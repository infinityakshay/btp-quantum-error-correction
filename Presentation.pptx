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notesMasterIdLst>
    <p:notesMasterId r:id="rId33"/>
  </p:notesMasterIdLst>
  <p:sldIdLst>
    <p:sldId id="256" r:id="rId2"/>
    <p:sldId id="264" r:id="rId3"/>
    <p:sldId id="257" r:id="rId4"/>
    <p:sldId id="258" r:id="rId5"/>
    <p:sldId id="259" r:id="rId6"/>
    <p:sldId id="265" r:id="rId7"/>
    <p:sldId id="279" r:id="rId8"/>
    <p:sldId id="280" r:id="rId9"/>
    <p:sldId id="262" r:id="rId10"/>
    <p:sldId id="266" r:id="rId11"/>
    <p:sldId id="267" r:id="rId12"/>
    <p:sldId id="268" r:id="rId13"/>
    <p:sldId id="281" r:id="rId14"/>
    <p:sldId id="269" r:id="rId15"/>
    <p:sldId id="270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7052"/>
    <a:srgbClr val="828D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EC6340-381D-49F1-A647-479D36E1D8A0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D55B83-CFA9-41F3-B772-93963D074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905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Skip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D55B83-CFA9-41F3-B772-93963D0747F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865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CF264-A664-4B41-B79D-FDB68AE5194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2B0F-A8A5-464A-8027-A81B1AAAD9B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572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CF264-A664-4B41-B79D-FDB68AE5194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2B0F-A8A5-464A-8027-A81B1AAAD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598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CF264-A664-4B41-B79D-FDB68AE5194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2B0F-A8A5-464A-8027-A81B1AAAD9B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044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CF264-A664-4B41-B79D-FDB68AE5194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2B0F-A8A5-464A-8027-A81B1AAAD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869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CF264-A664-4B41-B79D-FDB68AE5194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2B0F-A8A5-464A-8027-A81B1AAAD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388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CF264-A664-4B41-B79D-FDB68AE5194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2B0F-A8A5-464A-8027-A81B1AAAD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704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CF264-A664-4B41-B79D-FDB68AE5194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2B0F-A8A5-464A-8027-A81B1AAAD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703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DCCF264-A664-4B41-B79D-FDB68AE5194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CD2B0F-A8A5-464A-8027-A81B1AAAD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128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CF264-A664-4B41-B79D-FDB68AE5194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2B0F-A8A5-464A-8027-A81B1AAAD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74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CF264-A664-4B41-B79D-FDB68AE5194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2B0F-A8A5-464A-8027-A81B1AAAD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268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CF264-A664-4B41-B79D-FDB68AE5194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D2B0F-A8A5-464A-8027-A81B1AAAD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573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DCCF264-A664-4B41-B79D-FDB68AE5194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ACD2B0F-A8A5-464A-8027-A81B1AAAD9B0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687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82F63-F106-4851-8AA2-C123BAA30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1251" y="3136738"/>
            <a:ext cx="10984373" cy="1276005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Error Correction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FF00F5-69C8-44CF-A04F-7883C27948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0243" y="4412744"/>
            <a:ext cx="9144000" cy="1655762"/>
          </a:xfrm>
        </p:spPr>
        <p:txBody>
          <a:bodyPr>
            <a:normAutofit fontScale="70000" lnSpcReduction="20000"/>
          </a:bodyPr>
          <a:lstStyle/>
          <a:p>
            <a:pPr algn="ctr" rtl="0"/>
            <a:r>
              <a:rPr lang="en-IN" sz="26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Professor: </a:t>
            </a:r>
            <a:r>
              <a:rPr lang="en-IN" sz="26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Ritumoni</a:t>
            </a:r>
            <a:r>
              <a:rPr lang="en-IN" sz="26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Sharma</a:t>
            </a:r>
          </a:p>
          <a:p>
            <a:pPr algn="ctr" rtl="0"/>
            <a:br>
              <a:rPr lang="en-IN" sz="26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6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Students:</a:t>
            </a:r>
            <a:br>
              <a:rPr lang="en-IN" sz="2600" dirty="0">
                <a:effectLst/>
              </a:rPr>
            </a:br>
            <a:endParaRPr lang="en-IN" sz="2600" dirty="0">
              <a:effectLst/>
            </a:endParaRPr>
          </a:p>
          <a:p>
            <a:pPr algn="l"/>
            <a:br>
              <a:rPr lang="en-IN" b="0" i="0" dirty="0">
                <a:solidFill>
                  <a:srgbClr val="495365"/>
                </a:solidFill>
                <a:effectLst/>
                <a:latin typeface="Lato"/>
              </a:rPr>
            </a:b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76479E4-3872-4315-8D97-B34109D5B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220194"/>
              </p:ext>
            </p:extLst>
          </p:nvPr>
        </p:nvGraphicFramePr>
        <p:xfrm>
          <a:off x="3981253" y="5240625"/>
          <a:ext cx="4229493" cy="6834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9359">
                  <a:extLst>
                    <a:ext uri="{9D8B030D-6E8A-4147-A177-3AD203B41FA5}">
                      <a16:colId xmlns:a16="http://schemas.microsoft.com/office/drawing/2014/main" val="1279645030"/>
                    </a:ext>
                  </a:extLst>
                </a:gridCol>
                <a:gridCol w="1670134">
                  <a:extLst>
                    <a:ext uri="{9D8B030D-6E8A-4147-A177-3AD203B41FA5}">
                      <a16:colId xmlns:a16="http://schemas.microsoft.com/office/drawing/2014/main" val="1744975597"/>
                    </a:ext>
                  </a:extLst>
                </a:gridCol>
              </a:tblGrid>
              <a:tr h="312603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637052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Akshay Reddy Vellapalem</a:t>
                      </a:r>
                      <a:endParaRPr lang="en-IN" sz="1400" dirty="0">
                        <a:solidFill>
                          <a:srgbClr val="63705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err="1">
                          <a:solidFill>
                            <a:srgbClr val="637052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Dayal</a:t>
                      </a:r>
                      <a:r>
                        <a:rPr lang="en-IN" sz="1400" dirty="0">
                          <a:solidFill>
                            <a:srgbClr val="637052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Kumar </a:t>
                      </a:r>
                      <a:endParaRPr lang="en-IN" sz="1400" dirty="0">
                        <a:solidFill>
                          <a:srgbClr val="63705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3074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637052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2020MT10868</a:t>
                      </a:r>
                      <a:endParaRPr lang="en-IN" sz="1400" dirty="0">
                        <a:solidFill>
                          <a:srgbClr val="63705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637052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2020MT10797</a:t>
                      </a:r>
                      <a:endParaRPr lang="en-IN" sz="1400" dirty="0">
                        <a:solidFill>
                          <a:srgbClr val="63705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979076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BC0AE2A-161F-461A-920D-B59A55416C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442" y="315493"/>
            <a:ext cx="2691114" cy="269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618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E4C8D-1691-472C-9694-5E04D4348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Algebra Notations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F0C611D0-297D-4449-8A8B-0C5016B111E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15610387"/>
                  </p:ext>
                </p:extLst>
              </p:nvPr>
            </p:nvGraphicFramePr>
            <p:xfrm>
              <a:off x="1820819" y="2108431"/>
              <a:ext cx="8550361" cy="3664649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2728681">
                      <a:extLst>
                        <a:ext uri="{9D8B030D-6E8A-4147-A177-3AD203B41FA5}">
                          <a16:colId xmlns:a16="http://schemas.microsoft.com/office/drawing/2014/main" val="484704867"/>
                        </a:ext>
                      </a:extLst>
                    </a:gridCol>
                    <a:gridCol w="5821680">
                      <a:extLst>
                        <a:ext uri="{9D8B030D-6E8A-4147-A177-3AD203B41FA5}">
                          <a16:colId xmlns:a16="http://schemas.microsoft.com/office/drawing/2014/main" val="2988158851"/>
                        </a:ext>
                      </a:extLst>
                    </a:gridCol>
                  </a:tblGrid>
                  <a:tr h="3647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Notation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Description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145701496"/>
                      </a:ext>
                    </a:extLst>
                  </a:tr>
                  <a:tr h="36478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b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IN" b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Complex conjugate of complex number </a:t>
                          </a:r>
                          <a14:m>
                            <m:oMath xmlns:m="http://schemas.openxmlformats.org/officeDocument/2006/math">
                              <m:r>
                                <a:rPr lang="en-IN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oMath>
                          </a14:m>
                          <a:endParaRPr lang="en-IN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674747728"/>
                      </a:ext>
                    </a:extLst>
                  </a:tr>
                  <a:tr h="36478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⟩"/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b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Vector (</a:t>
                          </a:r>
                          <a:r>
                            <a:rPr lang="en-I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ket</a:t>
                          </a:r>
                          <a:r>
                            <a:rPr lang="en-IN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63174797"/>
                      </a:ext>
                    </a:extLst>
                  </a:tr>
                  <a:tr h="36478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⟨</m:t>
                                </m:r>
                                <m:r>
                                  <a:rPr lang="en-IN" b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𝜓</m:t>
                                </m:r>
                                <m:r>
                                  <a:rPr lang="en-IN" b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IN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Vector dual to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b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d>
                            </m:oMath>
                          </a14:m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(</a:t>
                          </a:r>
                          <a:r>
                            <a:rPr lang="en-I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bra</a:t>
                          </a:r>
                          <a:r>
                            <a:rPr lang="en-IN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092153250"/>
                      </a:ext>
                    </a:extLst>
                  </a:tr>
                  <a:tr h="36478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⟨</m:t>
                                </m:r>
                                <m:r>
                                  <a:rPr lang="en-IN" b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  <m:d>
                                  <m:dPr>
                                    <m:begChr m:val="|"/>
                                    <m:endChr m:val="⟩"/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b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Inner product between the vectors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IN" sz="1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800" b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d>
                              <m:r>
                                <a:rPr lang="en-IN" sz="1800" b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1800" b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IN" sz="1800" b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I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800" b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d>
                            </m:oMath>
                          </a14:m>
                          <a:endParaRPr lang="en-IN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33883473"/>
                      </a:ext>
                    </a:extLst>
                  </a:tr>
                  <a:tr h="36478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I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800" b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d>
                              <m:r>
                                <a:rPr lang="en-IN" sz="180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⊗</m:t>
                              </m:r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IN" sz="1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800" b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d>
                              <m:r>
                                <a:rPr lang="en-IN" sz="1800" b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I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800" b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IN" sz="1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800" b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oMath>
                          </a14:m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I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800" b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oMath>
                          </a14:m>
                          <a:endParaRPr lang="en-IN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Tensor product of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IN" sz="1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d>
                              <m:r>
                                <a:rPr lang="en-IN" sz="1800" b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1800" b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IN" sz="1800" b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I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oMath>
                          </a14:m>
                          <a:endParaRPr lang="en-IN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248316344"/>
                      </a:ext>
                    </a:extLst>
                  </a:tr>
                  <a:tr h="36478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b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IN" b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Complex conjugate of the A matrix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806404986"/>
                      </a:ext>
                    </a:extLst>
                  </a:tr>
                  <a:tr h="36478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b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IN" b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Transpose of the A matrix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020453556"/>
                      </a:ext>
                    </a:extLst>
                  </a:tr>
                  <a:tr h="36704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b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IN" sz="1800" b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†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Hermitian conjugate or adjoint of the A matrix.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I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b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IN" sz="1800" b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</m:oMath>
                          </a14:m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=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I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IN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b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IN" b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a14:m>
                          <a:endParaRPr lang="en-IN" i="0" baseline="30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169580147"/>
                      </a:ext>
                    </a:extLst>
                  </a:tr>
                  <a:tr h="36478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b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⟨</m:t>
                                </m:r>
                                <m:r>
                                  <a:rPr lang="en-IN" sz="1800" b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IN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1800" b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  <m:r>
                                  <a:rPr lang="en-IN" sz="1800" b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𝜓</m:t>
                                </m:r>
                                <m:r>
                                  <a:rPr lang="en-IN" sz="1800" b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⟩</m:t>
                                </m:r>
                              </m:oMath>
                            </m:oMathPara>
                          </a14:m>
                          <a:endParaRPr lang="en-IN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Inner product between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IN" sz="1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800" b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d>
                              <m:r>
                                <a:rPr lang="en-IN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IN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b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d>
                            </m:oMath>
                          </a14:m>
                          <a:endParaRPr lang="en-IN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6543216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F0C611D0-297D-4449-8A8B-0C5016B111E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15610387"/>
                  </p:ext>
                </p:extLst>
              </p:nvPr>
            </p:nvGraphicFramePr>
            <p:xfrm>
              <a:off x="1820819" y="2108431"/>
              <a:ext cx="8550361" cy="3664649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2728681">
                      <a:extLst>
                        <a:ext uri="{9D8B030D-6E8A-4147-A177-3AD203B41FA5}">
                          <a16:colId xmlns:a16="http://schemas.microsoft.com/office/drawing/2014/main" val="484704867"/>
                        </a:ext>
                      </a:extLst>
                    </a:gridCol>
                    <a:gridCol w="5821680">
                      <a:extLst>
                        <a:ext uri="{9D8B030D-6E8A-4147-A177-3AD203B41FA5}">
                          <a16:colId xmlns:a16="http://schemas.microsoft.com/office/drawing/2014/main" val="298815885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Notation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Description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14570149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23" t="-110000" r="-213839" b="-8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2"/>
                          <a:stretch>
                            <a:fillRect l="-46967" t="-110000" r="-209" b="-8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474772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23" t="-206557" r="-213839" b="-7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Vector (</a:t>
                          </a:r>
                          <a:r>
                            <a:rPr lang="en-I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ket</a:t>
                          </a:r>
                          <a:r>
                            <a:rPr lang="en-IN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6317479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23" t="-311667" r="-213839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2"/>
                          <a:stretch>
                            <a:fillRect l="-46967" t="-311667" r="-209" b="-6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215325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23" t="-411667" r="-213839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2"/>
                          <a:stretch>
                            <a:fillRect l="-46967" t="-411667" r="-209" b="-5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88347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23" t="-511667" r="-213839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2"/>
                          <a:stretch>
                            <a:fillRect l="-46967" t="-511667" r="-209" b="-4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831634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23" t="-611667" r="-213839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Complex conjugate of the A matrix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80640498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23" t="-711667" r="-213839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Transpose of the A matrix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020453556"/>
                      </a:ext>
                    </a:extLst>
                  </a:tr>
                  <a:tr h="3728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23" t="-785484" r="-213839" b="-1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2"/>
                          <a:stretch>
                            <a:fillRect l="-46967" t="-785484" r="-209" b="-1193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5801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23" t="-915000" r="-213839" b="-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2"/>
                          <a:stretch>
                            <a:fillRect l="-46967" t="-915000" r="-209" b="-2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43216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14801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0FE52-EC36-4A05-BA2B-AAC818BD2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Recap: Qubit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A9503D-4AE1-4CEB-8E06-394CB54158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66240" y="2090218"/>
                <a:ext cx="9859519" cy="397898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qubit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quantum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superposition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2 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states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.,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0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1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We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can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represent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qubit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en-I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as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normal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vector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in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ℂ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</m:t>
                      </m:r>
                      <m:r>
                        <m:rPr>
                          <m:nor/>
                        </m:rPr>
                        <a:rPr lang="en-IN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IN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n-IN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.,</m:t>
                      </m:r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is</m:t>
                          </m:r>
                          <m:r>
                            <a:rPr lang="en-IN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measured</m:t>
                          </m:r>
                          <m:r>
                            <a:rPr lang="en-IN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as</m:t>
                          </m:r>
                          <m:r>
                            <a:rPr lang="en-IN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bit</m:t>
                          </m:r>
                          <m:r>
                            <a:rPr lang="en-IN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state</m:t>
                      </m:r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containing</m:t>
                      </m:r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qubits</m:t>
                      </m:r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is</m:t>
                      </m:r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the</m:t>
                      </m:r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tensor</m:t>
                      </m:r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product</m:t>
                      </m:r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of</m:t>
                      </m:r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the</m:t>
                      </m:r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individual</m:t>
                      </m:r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qubits</m:t>
                      </m:r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For</m:t>
                      </m:r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example</m:t>
                      </m:r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Let</m:t>
                      </m:r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and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d>
                        <m:dPr>
                          <m:begChr m:val="|"/>
                          <m:endChr m:val="⟩"/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`1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IN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he</m:t>
                      </m:r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state</m:t>
                      </m:r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having</m:t>
                      </m:r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the</m:t>
                      </m:r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qubits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⟩"/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and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⟩"/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is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IN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⊗</m:t>
                      </m:r>
                      <m:d>
                        <m:dPr>
                          <m:begChr m:val="|"/>
                          <m:endChr m:val="⟩"/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en-IN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e>
                      </m:d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A9503D-4AE1-4CEB-8E06-394CB54158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6240" y="2090218"/>
                <a:ext cx="9859519" cy="3978986"/>
              </a:xfrm>
              <a:blipFill>
                <a:blip r:embed="rId2"/>
                <a:stretch>
                  <a:fillRect l="-8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480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F36AB-5767-4506-BDD2-0EA3349E9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Recap: Quantum Gate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2488D1-2966-4958-981F-E6CC063FCB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24601" y="1714880"/>
                <a:ext cx="10130036" cy="459548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400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IN" sz="2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400" i="0" dirty="0" smtClean="0">
                          <a:latin typeface="Cambria Math" panose="02040503050406030204" pitchFamily="18" charset="0"/>
                        </a:rPr>
                        <m:t>quantum</m:t>
                      </m:r>
                      <m:r>
                        <a:rPr lang="en-IN" sz="24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400" i="0" dirty="0" smtClean="0">
                          <a:latin typeface="Cambria Math" panose="02040503050406030204" pitchFamily="18" charset="0"/>
                        </a:rPr>
                        <m:t>gate</m:t>
                      </m:r>
                      <m:r>
                        <a:rPr lang="en-IN" sz="24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400" i="0" dirty="0" smtClean="0">
                          <a:latin typeface="Cambria Math" panose="02040503050406030204" pitchFamily="18" charset="0"/>
                        </a:rPr>
                        <m:t>over</m:t>
                      </m:r>
                      <m:r>
                        <a:rPr lang="en-IN" sz="24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400" i="0" dirty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4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400" b="0" i="0" dirty="0" smtClean="0">
                          <a:latin typeface="Cambria Math" panose="02040503050406030204" pitchFamily="18" charset="0"/>
                        </a:rPr>
                        <m:t>qu</m:t>
                      </m:r>
                      <m:r>
                        <m:rPr>
                          <m:sty m:val="p"/>
                        </m:rPr>
                        <a:rPr lang="en-IN" sz="2400" i="0" dirty="0" smtClean="0">
                          <a:latin typeface="Cambria Math" panose="02040503050406030204" pitchFamily="18" charset="0"/>
                        </a:rPr>
                        <m:t>bits</m:t>
                      </m:r>
                      <m:r>
                        <a:rPr lang="en-IN" sz="24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400" i="0" dirty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IN" sz="24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400" i="0" dirty="0" smtClean="0">
                          <a:latin typeface="Cambria Math" panose="02040503050406030204" pitchFamily="18" charset="0"/>
                        </a:rPr>
                        <m:t>defined</m:t>
                      </m:r>
                      <m:r>
                        <a:rPr lang="en-IN" sz="24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400" i="0" dirty="0" smtClean="0">
                          <a:latin typeface="Cambria Math" panose="02040503050406030204" pitchFamily="18" charset="0"/>
                        </a:rPr>
                        <m:t>as</m:t>
                      </m:r>
                      <m:r>
                        <a:rPr lang="en-IN" sz="24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40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IN" sz="24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400" i="0" dirty="0" smtClean="0">
                          <a:latin typeface="Cambria Math" panose="02040503050406030204" pitchFamily="18" charset="0"/>
                        </a:rPr>
                        <m:t>unitary</m:t>
                      </m:r>
                      <m:r>
                        <a:rPr lang="en-IN" sz="24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400" i="0" dirty="0" smtClean="0">
                          <a:latin typeface="Cambria Math" panose="02040503050406030204" pitchFamily="18" charset="0"/>
                        </a:rPr>
                        <m:t>operation</m:t>
                      </m:r>
                      <m:r>
                        <a:rPr lang="en-IN" sz="2400" b="0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IN" sz="2400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ℂ</m:t>
                          </m:r>
                        </m:e>
                        <m:sup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p>
                      </m:sSup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</m:t>
                      </m:r>
                      <m:sSup>
                        <m:s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ℂ</m:t>
                          </m:r>
                        </m:e>
                        <m:sup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p>
                      </m:sSup>
                      <m:r>
                        <a:rPr lang="en-IN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such</m:t>
                      </m:r>
                      <m:r>
                        <a:rPr lang="en-IN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that</m:t>
                      </m:r>
                      <m:r>
                        <a:rPr lang="en-IN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IN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400" i="0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400" dirty="0"/>
              </a:p>
              <a:p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Any evolution of a closed quantum system is defined by a quantum gate.</a:t>
                </a:r>
              </a:p>
              <a:p>
                <a:pPr marL="0" indent="0">
                  <a:buNone/>
                </a:pPr>
                <a:endParaRPr lang="en-I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Useful Results: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Permutation: </a:t>
                </a:r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Any permutation of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bits can be implemented as a quantum gate in an </a:t>
                </a:r>
                <a14:m>
                  <m:oMath xmlns:m="http://schemas.openxmlformats.org/officeDocument/2006/math">
                    <m:r>
                      <a:rPr lang="en-I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qubit system.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IN" sz="2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1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IN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24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𝐚𝐧𝐝</m:t>
                    </m:r>
                    <m:r>
                      <a:rPr lang="en-IN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⟩"/>
                        <m:ctrlPr>
                          <a:rPr lang="en-IN" sz="2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e>
                    </m:d>
                    <m:r>
                      <m:rPr>
                        <m:nor/>
                      </m:rPr>
                      <a:rPr lang="en-IN" sz="24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  <m:r>
                      <m:rPr>
                        <m:nor/>
                      </m:rPr>
                      <a:rPr lang="en-I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Using</m:t>
                    </m:r>
                    <m:r>
                      <m:rPr>
                        <m:nor/>
                      </m:rPr>
                      <a:rPr lang="en-I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nor/>
                      </m:rPr>
                      <a:rPr lang="en-IN" sz="24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I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we</m:t>
                    </m:r>
                    <m:r>
                      <m:rPr>
                        <m:nor/>
                      </m:rPr>
                      <a:rPr lang="en-I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can</m:t>
                    </m:r>
                    <m:r>
                      <m:rPr>
                        <m:nor/>
                      </m:rPr>
                      <a:rPr lang="en-I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transform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I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I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I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I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to</m:t>
                    </m:r>
                    <m:r>
                      <a:rPr lang="en-IN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I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e>
                        </m:d>
                        <m:r>
                          <a:rPr lang="en-I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I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e>
                        </m:d>
                      </m:e>
                    </m:d>
                  </m:oMath>
                </a14:m>
                <a:r>
                  <a:rPr lang="en-IN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</a:t>
                </a:r>
              </a:p>
              <a:p>
                <a:pPr marL="0" indent="0">
                  <a:buNone/>
                </a:pPr>
                <a:endParaRPr lang="en-IN" sz="1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|"/>
                          <m:endChr m:val="⟩"/>
                          <m:ctrlPr>
                            <a:rPr lang="en-I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I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d>
                        <m:dPr>
                          <m:begChr m:val="|"/>
                          <m:endChr m:val="⟩"/>
                          <m:ctrlPr>
                            <a:rPr lang="en-I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groupChr>
                        <m:groupChrPr>
                          <m:chr m:val="→"/>
                          <m:vertJc m:val="bot"/>
                          <m:ctrlPr>
                            <a:rPr lang="en-IN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I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</m:groupChr>
                      <m:r>
                        <a:rPr lang="en-I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|"/>
                          <m:endChr m:val="⟩"/>
                          <m:ctrlPr>
                            <a:rPr lang="en-I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en-I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I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d>
                        <m:dPr>
                          <m:begChr m:val="|"/>
                          <m:endChr m:val="⟩"/>
                          <m:ctrlPr>
                            <a:rPr lang="en-I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groupChr>
                        <m:groupChrPr>
                          <m:chr m:val="→"/>
                          <m:vertJc m:val="bot"/>
                          <m:ctrlPr>
                            <a:rPr lang="en-I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I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</m:groupChr>
                      <m:r>
                        <a:rPr lang="en-I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|"/>
                          <m:endChr m:val="⟩"/>
                          <m:ctrlPr>
                            <a:rPr lang="en-I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I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d>
                        <m:dPr>
                          <m:begChr m:val="|"/>
                          <m:endChr m:val="⟩"/>
                          <m:ctrlPr>
                            <a:rPr lang="en-I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  <a:p>
                <a:pPr algn="ctr">
                  <a:buFont typeface="Arial" panose="020B0604020202020204" pitchFamily="34" charset="0"/>
                  <a:buChar char="•"/>
                </a:pPr>
                <a:endParaRPr lang="en-IN" sz="24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2488D1-2966-4958-981F-E6CC063FCB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24601" y="1714880"/>
                <a:ext cx="10130036" cy="4595485"/>
              </a:xfrm>
              <a:blipFill>
                <a:blip r:embed="rId2"/>
                <a:stretch>
                  <a:fillRect l="-1745" r="-1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7197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86394-0348-4C91-B17C-797D792DE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Recap: Measurement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AC8BA6-C7F2-4BC0-9E89-13C0F968C9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34159"/>
                <a:ext cx="10058400" cy="402336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𝐌𝐞𝐚𝐬𝐮𝐫𝐞𝐦𝐞𝐧𝐭</m:t>
                      </m:r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𝐨𝐩𝐞𝐫𝐚𝐭𝐨𝐫𝐬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collection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operators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such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that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sz="200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000" i="0" dirty="0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m:rPr>
                          <m:sty m:val="p"/>
                        </m:rPr>
                        <a:rPr lang="en-IN" sz="2000" b="0" i="0" dirty="0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IN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000" b="0" i="0" dirty="0" smtClean="0">
                          <a:latin typeface="Cambria Math" panose="02040503050406030204" pitchFamily="18" charset="0"/>
                        </a:rPr>
                        <m:t>define</m:t>
                      </m:r>
                      <m:r>
                        <a:rPr lang="en-IN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000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IN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000" b="0" i="0" dirty="0" smtClean="0">
                          <a:latin typeface="Cambria Math" panose="02040503050406030204" pitchFamily="18" charset="0"/>
                        </a:rPr>
                        <m:t>measurement</m:t>
                      </m:r>
                      <m:r>
                        <a:rPr lang="en-IN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000" b="0" i="0" dirty="0" smtClean="0">
                          <a:latin typeface="Cambria Math" panose="02040503050406030204" pitchFamily="18" charset="0"/>
                        </a:rPr>
                        <m:t>on</m:t>
                      </m:r>
                      <m:r>
                        <a:rPr lang="en-IN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000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IN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000" b="0" i="0" dirty="0" smtClean="0">
                          <a:latin typeface="Cambria Math" panose="02040503050406030204" pitchFamily="18" charset="0"/>
                        </a:rPr>
                        <m:t>quantum</m:t>
                      </m:r>
                      <m:r>
                        <a:rPr lang="en-IN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000" b="0" i="0" dirty="0" smtClean="0">
                          <a:latin typeface="Cambria Math" panose="02040503050406030204" pitchFamily="18" charset="0"/>
                        </a:rPr>
                        <m:t>state</m:t>
                      </m:r>
                      <m:r>
                        <a:rPr lang="en-IN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⟩"/>
                          <m:ctrlPr>
                            <a:rPr lang="en-IN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dirty="0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IN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000" b="0" i="0" dirty="0" smtClean="0">
                          <a:latin typeface="Cambria Math" panose="02040503050406030204" pitchFamily="18" charset="0"/>
                        </a:rPr>
                        <m:t>as</m:t>
                      </m:r>
                      <m:r>
                        <a:rPr lang="en-IN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000" b="0" i="0" dirty="0" smtClean="0">
                          <a:latin typeface="Cambria Math" panose="02040503050406030204" pitchFamily="18" charset="0"/>
                        </a:rPr>
                        <m:t>an</m:t>
                      </m:r>
                      <m:r>
                        <a:rPr lang="en-IN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000" b="0" i="0" dirty="0" smtClean="0">
                          <a:latin typeface="Cambria Math" panose="02040503050406030204" pitchFamily="18" charset="0"/>
                        </a:rPr>
                        <m:t>experiment</m:t>
                      </m:r>
                      <m:r>
                        <a:rPr lang="en-IN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000" b="0" i="0" dirty="0" smtClean="0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en-IN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000" b="0" i="0" dirty="0" smtClean="0">
                          <a:latin typeface="Cambria Math" panose="02040503050406030204" pitchFamily="18" charset="0"/>
                        </a:rPr>
                        <m:t>possible</m:t>
                      </m:r>
                      <m:r>
                        <a:rPr lang="en-IN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000" b="0" i="0" dirty="0" smtClean="0">
                          <a:latin typeface="Cambria Math" panose="02040503050406030204" pitchFamily="18" charset="0"/>
                        </a:rPr>
                        <m:t>outcomes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) 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dirty="0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e>
                          <m:sSubSup>
                            <m:sSubSup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2000" b="0" i="1" dirty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IN" sz="2000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dirty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IN" sz="2000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  <m:e>
                          <m:r>
                            <a:rPr lang="en-IN" sz="2000" b="0" i="1" dirty="0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000" i="0" dirty="0" smtClean="0">
                          <a:latin typeface="Cambria Math" panose="02040503050406030204" pitchFamily="18" charset="0"/>
                        </a:rPr>
                        <m:t>he</m:t>
                      </m:r>
                      <m:r>
                        <a:rPr lang="en-US" sz="20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i="0" dirty="0" smtClean="0">
                          <a:latin typeface="Cambria Math" panose="02040503050406030204" pitchFamily="18" charset="0"/>
                        </a:rPr>
                        <m:t>state</m:t>
                      </m:r>
                      <m:r>
                        <a:rPr lang="en-US" sz="20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i="0" dirty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20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i="0" dirty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US" sz="20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i="0" dirty="0" smtClean="0">
                          <a:latin typeface="Cambria Math" panose="02040503050406030204" pitchFamily="18" charset="0"/>
                        </a:rPr>
                        <m:t>system</m:t>
                      </m:r>
                      <m:r>
                        <a:rPr lang="en-US" sz="20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i="0" dirty="0" smtClean="0">
                          <a:latin typeface="Cambria Math" panose="02040503050406030204" pitchFamily="18" charset="0"/>
                        </a:rPr>
                        <m:t>after</m:t>
                      </m:r>
                      <m:r>
                        <a:rPr lang="en-US" sz="20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i="0" dirty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US" sz="20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i="0" dirty="0" smtClean="0">
                          <a:latin typeface="Cambria Math" panose="02040503050406030204" pitchFamily="18" charset="0"/>
                        </a:rPr>
                        <m:t>measurement</m:t>
                      </m:r>
                      <m:r>
                        <a:rPr lang="en-IN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0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i="0" dirty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IN" sz="2000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dirty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IN" sz="2000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en-IN" sz="2000" b="0" i="1" dirty="0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e>
                                  <m:sSubSup>
                                    <m:sSubSupPr>
                                      <m:ctrlPr>
                                        <a:rPr lang="en-US" sz="20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IN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  <m:sup>
                                      <m:r>
                                        <a:rPr lang="en-US" sz="2000" i="1" dirty="0" smtClean="0">
                                          <a:latin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sz="20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IN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IN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IN" b="0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AC8BA6-C7F2-4BC0-9E89-13C0F968C9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34159"/>
                <a:ext cx="10058400" cy="4023360"/>
              </a:xfrm>
              <a:blipFill>
                <a:blip r:embed="rId2"/>
                <a:stretch>
                  <a:fillRect l="-8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392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987F0-03D9-4DC0-85ED-8655FA5C4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Recap: Density Operator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F7B3AF-AFCC-4B0C-9427-3EB946A7F8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59712" y="1779417"/>
                <a:ext cx="9895968" cy="451085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Suppose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quantum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system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in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one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number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states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respective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probabilities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I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⟩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}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called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an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𝑒𝑛𝑠𝑒𝑚𝑏𝑙𝑒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𝑝𝑢𝑟𝑒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𝑠𝑡𝑎𝑡𝑒𝑠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density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operator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system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defined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as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⟩⟨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en-IN" b="0" i="1" dirty="0"/>
              </a:p>
              <a:p>
                <a:pPr marL="0" indent="0">
                  <a:buNone/>
                </a:pPr>
                <a:endParaRPr lang="en-IN" b="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quantum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system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in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state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probability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resulting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density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operator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I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b="0" i="1" dirty="0"/>
              </a:p>
              <a:p>
                <a:pPr marL="0" indent="0">
                  <a:buNone/>
                </a:pPr>
                <a:endParaRPr lang="en-IN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density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operator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⇔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positive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𝑡𝑟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endParaRPr lang="en-IN" sz="2400" b="0" i="1" dirty="0"/>
              </a:p>
              <a:p>
                <a:pPr marL="0" indent="0">
                  <a:buNone/>
                </a:pPr>
                <a:endParaRPr lang="en-IN" sz="2400" i="1" dirty="0"/>
              </a:p>
              <a:p>
                <a:pPr marL="0" indent="0">
                  <a:buNone/>
                </a:pPr>
                <a:endParaRPr lang="en-IN" sz="2400" i="1" dirty="0"/>
              </a:p>
              <a:p>
                <a:pPr marL="0" indent="0">
                  <a:buNone/>
                </a:pPr>
                <a:endParaRPr lang="en-IN" sz="140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F7B3AF-AFCC-4B0C-9427-3EB946A7F8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59712" y="1779417"/>
                <a:ext cx="9895968" cy="4510851"/>
              </a:xfrm>
              <a:blipFill>
                <a:blip r:embed="rId2"/>
                <a:stretch>
                  <a:fillRect l="-1232" b="-12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5482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FDC87-CE00-4E4F-A0C2-44DC2C115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Recap: Density Operator (Theorem)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D139FE-74E5-4F8E-8972-5993EDAF4A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439481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endParaRPr lang="en-IN" sz="2800" b="1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400" b="0" i="0" dirty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IN" sz="2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400" b="0" i="0" dirty="0" smtClean="0">
                          <a:latin typeface="Cambria Math" panose="02040503050406030204" pitchFamily="18" charset="0"/>
                        </a:rPr>
                        <m:t>any</m:t>
                      </m:r>
                      <m:r>
                        <a:rPr lang="en-IN" sz="2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400" b="0" i="0" dirty="0" smtClean="0">
                          <a:latin typeface="Cambria Math" panose="02040503050406030204" pitchFamily="18" charset="0"/>
                        </a:rPr>
                        <m:t>ensamble</m:t>
                      </m:r>
                      <m:r>
                        <a:rPr lang="en-IN" sz="2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  <m:t>,|</m:t>
                          </m:r>
                          <m:sSub>
                            <m:sSubPr>
                              <m:ctrlP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d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IN" sz="2400" b="0" i="0" dirty="0" smtClean="0">
                          <a:latin typeface="Cambria Math" panose="02040503050406030204" pitchFamily="18" charset="0"/>
                        </a:rPr>
                        <m:t>define</m:t>
                      </m:r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⟩"/>
                          <m:ctrlP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≔</m:t>
                      </m:r>
                      <m:rad>
                        <m:radPr>
                          <m:degHide m:val="on"/>
                          <m:ctrlP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rad>
                      <m:d>
                        <m:dPr>
                          <m:begChr m:val="|"/>
                          <m:endChr m:val="⟩"/>
                          <m:ctrlP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:endParaRPr lang="en-IN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𝑃𝑟𝑜𝑜𝑓</m:t>
                      </m:r>
                      <m:r>
                        <a:rPr lang="en-IN" sz="24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 dirty="0">
                              <a:latin typeface="Cambria Math" panose="02040503050406030204" pitchFamily="18" charset="0"/>
                            </a:rPr>
                            <m:t>⇐</m:t>
                          </m:r>
                        </m:e>
                      </m:d>
                    </m:oMath>
                  </m:oMathPara>
                </a14:m>
                <a:endParaRPr lang="en-IN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acc>
                            <m:accPr>
                              <m:chr m:val="̃"/>
                              <m:ctrlP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  <m:t>⟩⟨</m:t>
                          </m:r>
                          <m:acc>
                            <m:accPr>
                              <m:chr m:val="̃"/>
                              <m:ctrlP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IN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9"/>
                                    </m:rP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|"/>
                                      <m:endChr m:val="⟩"/>
                                      <m:ctrlPr>
                                        <a:rPr lang="en-I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I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2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</m:nary>
                            </m:e>
                          </m:d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1"/>
                                    </m:rP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IN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</a:rPr>
                                        <m:t>𝑖𝑘</m:t>
                                      </m:r>
                                    </m:sub>
                                    <m:sup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⟨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lang="en-I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I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400" i="1" dirty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24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IN" sz="2400" b="0" i="1" dirty="0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</m:nary>
                            </m:e>
                          </m:d>
                        </m:e>
                      </m:nary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brk m:alnAt="9"/>
                            </m:rPr>
                            <a:rPr lang="en-IN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  <m:sup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begChr m:val="|"/>
                              <m:endChr m:val="⟩"/>
                              <m:ctrlP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I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IN" sz="2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⟨</m:t>
                          </m:r>
                          <m:acc>
                            <m:accPr>
                              <m:chr m:val="̃"/>
                              <m:ctrlP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2400" i="1" dirty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en-IN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IN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1"/>
                                    </m:r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Sup>
                                        <m:sSubSupPr>
                                          <m:ctrlPr>
                                            <a:rPr lang="en-I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IN" sz="24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IN" sz="2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I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IN" sz="2400" i="1" smtClean="0">
                                              <a:latin typeface="Cambria Math" panose="02040503050406030204" pitchFamily="18" charset="0"/>
                                            </a:rPr>
                                            <m:t>†</m:t>
                                          </m:r>
                                        </m:sup>
                                      </m:sSubSup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d>
                            <m:dPr>
                              <m:begChr m:val="|"/>
                              <m:endChr m:val="⟩"/>
                              <m:ctrlP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I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IN" sz="2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⟨</m:t>
                          </m:r>
                          <m:acc>
                            <m:accPr>
                              <m:chr m:val="̃"/>
                              <m:ctrlP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2400" i="1" dirty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⟩"/>
                              <m:ctrlP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I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IN" sz="2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⟨</m:t>
                          </m:r>
                          <m:acc>
                            <m:accPr>
                              <m:chr m:val="̃"/>
                              <m:ctrlP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2400" i="1" dirty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I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IN" sz="2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⟨</m:t>
                          </m:r>
                          <m:acc>
                            <m:accPr>
                              <m:chr m:val="̃"/>
                              <m:ctrlP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IN" sz="24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2400" i="1" dirty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en-IN" sz="2400" dirty="0"/>
              </a:p>
              <a:p>
                <a:pPr marL="0" indent="0">
                  <a:buNone/>
                </a:pPr>
                <a:endParaRPr lang="en-IN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D139FE-74E5-4F8E-8972-5993EDAF4A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4394810"/>
              </a:xfrm>
              <a:blipFill>
                <a:blip r:embed="rId3"/>
                <a:stretch>
                  <a:fillRect l="-10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E4803E78-6273-4ACD-9EF3-F96C8C55F9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6231233"/>
                  </p:ext>
                </p:extLst>
              </p:nvPr>
            </p:nvGraphicFramePr>
            <p:xfrm>
              <a:off x="2041427" y="2533891"/>
              <a:ext cx="8128000" cy="18762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38268761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Theorem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738885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sz="1800" b="0" i="0" dirty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a:rPr lang="en-IN" sz="1800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1800" b="0" i="0" dirty="0" smtClean="0">
                                    <a:latin typeface="Cambria Math" panose="02040503050406030204" pitchFamily="18" charset="0"/>
                                  </a:rPr>
                                  <m:t>sets</m:t>
                                </m:r>
                                <m:r>
                                  <a:rPr lang="en-IN" sz="1800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IN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⟩"/>
                                        <m:ctrlPr>
                                          <a:rPr lang="en-IN" sz="1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IN" sz="18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IN" sz="1800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IN" sz="18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sz="18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</m:e>
                                </m:d>
                                <m:r>
                                  <a:rPr lang="en-IN" sz="1800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1800" b="0" i="0" dirty="0" smtClean="0">
                                    <a:latin typeface="Cambria Math" panose="02040503050406030204" pitchFamily="18" charset="0"/>
                                  </a:rPr>
                                  <m:t>and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IN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⟩"/>
                                        <m:ctrlPr>
                                          <a:rPr lang="en-IN" sz="1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IN" sz="18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IN" sz="1800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IN" sz="1800" b="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sz="1800" b="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</m:e>
                                </m:d>
                                <m:r>
                                  <a:rPr lang="en-IN" sz="18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1800" b="0" i="0" dirty="0" smtClean="0">
                                    <a:latin typeface="Cambria Math" panose="02040503050406030204" pitchFamily="18" charset="0"/>
                                  </a:rPr>
                                  <m:t>generate</m:t>
                                </m:r>
                                <m:r>
                                  <a:rPr lang="en-IN" sz="1800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1800" b="0" i="0" dirty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a:rPr lang="en-IN" sz="1800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1800" b="0" i="0" dirty="0" smtClean="0">
                                    <a:latin typeface="Cambria Math" panose="02040503050406030204" pitchFamily="18" charset="0"/>
                                  </a:rPr>
                                  <m:t>same</m:t>
                                </m:r>
                                <m:r>
                                  <a:rPr lang="en-IN" sz="1800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1800" b="0" i="0" dirty="0" smtClean="0">
                                    <a:latin typeface="Cambria Math" panose="02040503050406030204" pitchFamily="18" charset="0"/>
                                  </a:rPr>
                                  <m:t>density</m:t>
                                </m:r>
                                <m:r>
                                  <a:rPr lang="en-IN" sz="1800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1800" b="0" i="0" dirty="0" smtClean="0">
                                    <a:latin typeface="Cambria Math" panose="02040503050406030204" pitchFamily="18" charset="0"/>
                                  </a:rPr>
                                  <m:t>operator</m:t>
                                </m:r>
                                <m:r>
                                  <a:rPr lang="en-IN" sz="1800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1800" b="0" i="0" dirty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IN" sz="1800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1800" b="0" i="0" dirty="0" smtClean="0">
                                    <a:latin typeface="Cambria Math" panose="02040503050406030204" pitchFamily="18" charset="0"/>
                                  </a:rPr>
                                  <m:t>and</m:t>
                                </m:r>
                                <m:r>
                                  <a:rPr lang="en-IN" sz="1800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1800" b="0" i="0" dirty="0" smtClean="0">
                                    <a:latin typeface="Cambria Math" panose="02040503050406030204" pitchFamily="18" charset="0"/>
                                  </a:rPr>
                                  <m:t>only</m:t>
                                </m:r>
                                <m:r>
                                  <a:rPr lang="en-IN" sz="1800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1800" b="0" i="0" dirty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</m:oMath>
                            </m:oMathPara>
                          </a14:m>
                          <a:endParaRPr lang="en-IN" sz="1800" b="0" dirty="0"/>
                        </a:p>
                        <a:p>
                          <a:pPr marL="0" indent="0">
                            <a:buNone/>
                          </a:pPr>
                          <a:endParaRPr lang="en-IN" sz="1600" b="0" dirty="0"/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⟩"/>
                                    <m:ctrlPr>
                                      <a:rPr lang="en-IN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IN" sz="1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IN" sz="18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800" i="1" dirty="0"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en-IN" sz="1800" i="1" dirty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  <m:r>
                                  <a:rPr lang="en-IN" sz="18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en-IN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1"/>
                                      </m:rPr>
                                      <a:rPr lang="en-IN" sz="18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I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800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IN" sz="1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IN" sz="18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|"/>
                                        <m:endChr m:val="⟩"/>
                                        <m:ctrlPr>
                                          <a:rPr lang="en-IN" sz="1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IN" sz="18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IN" sz="1800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IN" sz="18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sz="18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</m:e>
                                </m:nary>
                                <m:r>
                                  <a:rPr lang="en-IN" sz="1800" b="0" i="0" smtClean="0">
                                    <a:latin typeface="Cambria Math" panose="02040503050406030204" pitchFamily="18" charset="0"/>
                                  </a:rPr>
                                  <m:t>, 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1800" i="0" dirty="0" smtClean="0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1800" b="0" i="0" dirty="0" smtClean="0">
                                    <a:latin typeface="Cambria Math" panose="02040503050406030204" pitchFamily="18" charset="0"/>
                                  </a:rPr>
                                  <m:t>here</m:t>
                                </m:r>
                                <m:r>
                                  <a:rPr lang="en-IN" sz="18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sz="1800" b="0" i="1" dirty="0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n-IN" sz="18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800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IN" sz="1800" i="1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IN" sz="18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1800" b="0" i="0" smtClean="0">
                                    <a:latin typeface="Cambria Math" panose="02040503050406030204" pitchFamily="18" charset="0"/>
                                  </a:rPr>
                                  <m:t>is</m:t>
                                </m:r>
                                <m:r>
                                  <a:rPr lang="en-IN" sz="18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1800" b="0" i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IN" sz="18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1800" b="0" i="0" smtClean="0">
                                    <a:latin typeface="Cambria Math" panose="02040503050406030204" pitchFamily="18" charset="0"/>
                                  </a:rPr>
                                  <m:t>unitary</m:t>
                                </m:r>
                                <m:r>
                                  <a:rPr lang="en-IN" sz="18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1800" b="0" i="0" smtClean="0">
                                    <a:latin typeface="Cambria Math" panose="02040503050406030204" pitchFamily="18" charset="0"/>
                                  </a:rPr>
                                  <m:t>matrix</m:t>
                                </m:r>
                              </m:oMath>
                            </m:oMathPara>
                          </a14:m>
                          <a:endParaRPr lang="en-IN" sz="1800" b="0" dirty="0"/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I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1800">
                                        <a:latin typeface="Cambria Math" panose="02040503050406030204" pitchFamily="18" charset="0"/>
                                      </a:rPr>
                                      <m:t>Pad</m:t>
                                    </m:r>
                                    <m:r>
                                      <a:rPr lang="en-IN" sz="180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1800">
                                        <a:latin typeface="Cambria Math" panose="02040503050406030204" pitchFamily="18" charset="0"/>
                                      </a:rPr>
                                      <m:t>whichever</m:t>
                                    </m:r>
                                    <m:r>
                                      <a:rPr lang="en-IN" sz="180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1800">
                                        <a:latin typeface="Cambria Math" panose="02040503050406030204" pitchFamily="18" charset="0"/>
                                      </a:rPr>
                                      <m:t>set</m:t>
                                    </m:r>
                                    <m:r>
                                      <a:rPr lang="en-IN" sz="1800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IN" sz="1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|"/>
                                            <m:endChr m:val="⟩"/>
                                            <m:ctrlPr>
                                              <a:rPr lang="en-IN" sz="18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acc>
                                              <m:accPr>
                                                <m:chr m:val="̃"/>
                                                <m:ctrlPr>
                                                  <a:rPr lang="en-IN" sz="1800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IN" sz="18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IN" sz="18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𝜓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IN" sz="18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</m:d>
                                    <m:r>
                                      <a:rPr lang="en-IN" sz="1800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1800" dirty="0">
                                        <a:latin typeface="Cambria Math" panose="02040503050406030204" pitchFamily="18" charset="0"/>
                                      </a:rPr>
                                      <m:t>or</m:t>
                                    </m:r>
                                    <m:r>
                                      <a:rPr lang="en-IN" sz="1800" i="1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IN" sz="1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|"/>
                                            <m:endChr m:val="⟩"/>
                                            <m:ctrlPr>
                                              <a:rPr lang="en-IN" sz="18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acc>
                                              <m:accPr>
                                                <m:chr m:val="̃"/>
                                                <m:ctrlPr>
                                                  <a:rPr lang="en-IN" sz="1800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IN" sz="18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IN" sz="18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𝜙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IN" sz="18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</m:d>
                                    <m:r>
                                      <a:rPr lang="en-IN" sz="1800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1800" dirty="0">
                                        <a:latin typeface="Cambria Math" panose="02040503050406030204" pitchFamily="18" charset="0"/>
                                      </a:rPr>
                                      <m:t>is</m:t>
                                    </m:r>
                                    <m:r>
                                      <a:rPr lang="en-IN" sz="1800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1800" dirty="0">
                                        <a:latin typeface="Cambria Math" panose="02040503050406030204" pitchFamily="18" charset="0"/>
                                      </a:rPr>
                                      <m:t>smaller</m:t>
                                    </m:r>
                                    <m:r>
                                      <a:rPr lang="en-IN" sz="1800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1800" dirty="0">
                                        <a:latin typeface="Cambria Math" panose="02040503050406030204" pitchFamily="18" charset="0"/>
                                      </a:rPr>
                                      <m:t>with</m:t>
                                    </m:r>
                                    <m:r>
                                      <a:rPr lang="en-IN" sz="1800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1800" dirty="0">
                                        <a:latin typeface="Cambria Math" panose="02040503050406030204" pitchFamily="18" charset="0"/>
                                      </a:rPr>
                                      <m:t>aditional</m:t>
                                    </m:r>
                                    <m:r>
                                      <a:rPr lang="en-IN" sz="1800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IN" sz="1800" b="1" dirty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IN" sz="1800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1800" dirty="0">
                                        <a:latin typeface="Cambria Math" panose="02040503050406030204" pitchFamily="18" charset="0"/>
                                      </a:rPr>
                                      <m:t>vectors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b="0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768406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E4803E78-6273-4ACD-9EF3-F96C8C55F9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6231233"/>
                  </p:ext>
                </p:extLst>
              </p:nvPr>
            </p:nvGraphicFramePr>
            <p:xfrm>
              <a:off x="2041427" y="2533891"/>
              <a:ext cx="8128000" cy="18762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38268761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Theorem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73888562"/>
                      </a:ext>
                    </a:extLst>
                  </a:tr>
                  <a:tr h="15053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75" t="-27016" r="-150" b="-20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684064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6040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FDC87-CE00-4E4F-A0C2-44DC2C115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563677" cy="145075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Recap: Density Operator (Theorem)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D139FE-74E5-4F8E-8972-5993EDAF4A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98618" y="1894786"/>
                <a:ext cx="10151254" cy="4374037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𝑃𝑟𝑜𝑜𝑓</m:t>
                      </m:r>
                      <m:r>
                        <a:rPr lang="en-IN" sz="12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IN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(⇒)</m:t>
                      </m:r>
                    </m:oMath>
                  </m:oMathPara>
                </a14:m>
                <a:endParaRPr lang="en-IN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I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acc>
                            <m:accPr>
                              <m:chr m:val="̃"/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200" i="1" dirty="0">
                              <a:latin typeface="Cambria Math" panose="02040503050406030204" pitchFamily="18" charset="0"/>
                            </a:rPr>
                            <m:t>⟩⟨</m:t>
                          </m:r>
                          <m:acc>
                            <m:accPr>
                              <m:chr m:val="̃"/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200" i="1" dirty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IN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IN" sz="12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  <m:r>
                            <a:rPr lang="en-IN" sz="1200" i="1">
                              <a:latin typeface="Cambria Math" panose="02040503050406030204" pitchFamily="18" charset="0"/>
                            </a:rPr>
                            <m:t>⟨</m:t>
                          </m:r>
                          <m:acc>
                            <m:accPr>
                              <m:chr m:val="̃"/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200" i="1" dirty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dirty="0" smtClean="0">
                          <a:latin typeface="Cambria Math" panose="02040503050406030204" pitchFamily="18" charset="0"/>
                        </a:rPr>
                        <m:t>such</m:t>
                      </m:r>
                      <m:r>
                        <a:rPr lang="en-IN" sz="12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dirty="0" smtClean="0">
                          <a:latin typeface="Cambria Math" panose="02040503050406030204" pitchFamily="18" charset="0"/>
                        </a:rPr>
                        <m:t>that</m:t>
                      </m:r>
                      <m:r>
                        <a:rPr lang="en-IN" sz="12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dirty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IN" sz="12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dirty="0" smtClean="0">
                          <a:latin typeface="Cambria Math" panose="02040503050406030204" pitchFamily="18" charset="0"/>
                        </a:rPr>
                        <m:t>positive</m:t>
                      </m:r>
                      <m:r>
                        <a:rPr lang="en-IN" sz="12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dirty="0" smtClean="0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en-IN" sz="12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dirty="0" smtClean="0">
                          <a:latin typeface="Cambria Math" panose="02040503050406030204" pitchFamily="18" charset="0"/>
                        </a:rPr>
                        <m:t>trace</m:t>
                      </m:r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 1.</m:t>
                      </m:r>
                      <m:r>
                        <a:rPr lang="en-IN" sz="1200" b="0" i="0" dirty="0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IN" sz="1200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1200" b="0" i="0" dirty="0" smtClean="0">
                          <a:latin typeface="Cambria Math" panose="02040503050406030204" pitchFamily="18" charset="0"/>
                        </a:rPr>
                        <m:t>By</m:t>
                      </m:r>
                      <m:r>
                        <a:rPr lang="en-IN" sz="12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dirty="0" smtClean="0">
                          <a:latin typeface="Cambria Math" panose="02040503050406030204" pitchFamily="18" charset="0"/>
                        </a:rPr>
                        <m:t>spectral</m:t>
                      </m:r>
                      <m:r>
                        <a:rPr lang="en-IN" sz="12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dirty="0" smtClean="0">
                          <a:latin typeface="Cambria Math" panose="02040503050406030204" pitchFamily="18" charset="0"/>
                        </a:rPr>
                        <m:t>decomposition</m:t>
                      </m:r>
                      <m:r>
                        <a:rPr lang="en-IN" sz="1200" b="0" i="0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1200" i="1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200" b="0" i="1" dirty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IN" sz="12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I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1200" i="1" dirty="0">
                              <a:latin typeface="Cambria Math" panose="02040503050406030204" pitchFamily="18" charset="0"/>
                            </a:rPr>
                            <m:t>⟩⟨</m:t>
                          </m:r>
                          <m:r>
                            <a:rPr lang="en-IN" sz="12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1200" i="1" dirty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200" b="0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d>
                          <m:r>
                            <a:rPr lang="en-IN" sz="1200" i="1">
                              <a:latin typeface="Cambria Math" panose="02040503050406030204" pitchFamily="18" charset="0"/>
                            </a:rPr>
                            <m:t>⟨</m:t>
                          </m:r>
                          <m:acc>
                            <m:accPr>
                              <m:chr m:val="̃"/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2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  <m:r>
                            <a:rPr lang="en-IN" sz="1200" i="1" dirty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     </m:t>
                      </m:r>
                      <m:d>
                        <m:dPr>
                          <m:ctrlPr>
                            <a:rPr lang="en-IN" sz="1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d>
                          <m:r>
                            <a:rPr lang="en-IN" sz="12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ad>
                            <m:radPr>
                              <m:degHide m:val="on"/>
                              <m:ctrlPr>
                                <a:rPr lang="en-IN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rad>
                          <m:r>
                            <a:rPr lang="en-I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1200" i="1" dirty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d>
                    </m:oMath>
                  </m:oMathPara>
                </a14:m>
                <a:endParaRPr lang="en-IN" sz="1200" b="0" i="1" dirty="0"/>
              </a:p>
              <a:p>
                <a:pPr marL="0" indent="0">
                  <a:buNone/>
                </a:pPr>
                <a:endParaRPr lang="en-IN" sz="5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1200" b="0" i="0" smtClean="0">
                          <a:latin typeface="Cambria Math" panose="02040503050406030204" pitchFamily="18" charset="0"/>
                        </a:rPr>
                        <m:t>Let</m:t>
                      </m:r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⟩"/>
                          <m:ctrlPr>
                            <a:rPr lang="en-I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⊥</m:t>
                      </m:r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𝑠𝑝𝑎𝑛</m:t>
                      </m:r>
                      <m:sSub>
                        <m:sSubPr>
                          <m:ctrlPr>
                            <a:rPr lang="en-I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IN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IN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1200" i="1" dirty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⇒ </m:t>
                      </m:r>
                      <m:d>
                        <m:dPr>
                          <m:begChr m:val="⟨"/>
                          <m:endChr m:val="⟩"/>
                          <m:ctrlPr>
                            <a:rPr lang="en-IN" sz="1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200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e>
                          <m:r>
                            <a:rPr lang="en-IN" sz="1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IN" sz="1200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=0 </m:t>
                      </m:r>
                    </m:oMath>
                  </m:oMathPara>
                </a14:m>
                <a:endParaRPr lang="en-IN" sz="1200" b="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0=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sz="1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⟨</m:t>
                          </m:r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acc>
                            <m:accPr>
                              <m:chr m:val="̃"/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200" i="1" dirty="0">
                              <a:latin typeface="Cambria Math" panose="02040503050406030204" pitchFamily="18" charset="0"/>
                            </a:rPr>
                            <m:t>⟩⟨</m:t>
                          </m:r>
                          <m:acc>
                            <m:accPr>
                              <m:chr m:val="̃"/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200" i="1" dirty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sz="1200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1200" b="0" i="1" dirty="0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IN" sz="12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200" i="1">
                                      <a:latin typeface="Cambria Math" panose="02040503050406030204" pitchFamily="18" charset="0"/>
                                    </a:rPr>
                                    <m:t>⟨</m:t>
                                  </m:r>
                                  <m:r>
                                    <a:rPr lang="en-IN" sz="12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IN" sz="12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lang="en-IN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IN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200" i="1" dirty="0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  <m:sub>
                                          <m:r>
                                            <a:rPr lang="en-IN" sz="12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  <m:t>⟩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12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|"/>
                          <m:endChr m:val="⟩"/>
                          <m:ctrlPr>
                            <a:rPr lang="en-IN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2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IN" sz="1200" i="1">
                          <a:latin typeface="Cambria Math" panose="02040503050406030204" pitchFamily="18" charset="0"/>
                        </a:rPr>
                        <m:t>⊥</m:t>
                      </m:r>
                      <m:r>
                        <a:rPr lang="en-IN" sz="1200" i="1">
                          <a:latin typeface="Cambria Math" panose="02040503050406030204" pitchFamily="18" charset="0"/>
                        </a:rPr>
                        <m:t>𝑠𝑝𝑎𝑛</m:t>
                      </m:r>
                      <m:sSub>
                        <m:sSubPr>
                          <m:ctrlPr>
                            <a:rPr lang="en-I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IN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IN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IN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200" i="1" dirty="0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  <m:sub>
                                          <m:r>
                                            <a:rPr lang="en-IN" sz="12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IN" sz="12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IN" sz="1200" i="1">
                          <a:latin typeface="Cambria Math" panose="02040503050406030204" pitchFamily="18" charset="0"/>
                        </a:rPr>
                        <m:t>𝑠𝑝𝑎𝑛</m:t>
                      </m:r>
                      <m:sSub>
                        <m:sSubPr>
                          <m:ctrlPr>
                            <a:rPr lang="en-I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IN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IN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1200" i="1" dirty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IN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200" i="1">
                          <a:latin typeface="Cambria Math" panose="02040503050406030204" pitchFamily="18" charset="0"/>
                        </a:rPr>
                        <m:t>𝑠𝑝𝑎𝑛</m:t>
                      </m:r>
                      <m:sSub>
                        <m:sSubPr>
                          <m:ctrlPr>
                            <a:rPr lang="en-I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IN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IN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IN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200" i="1" dirty="0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  <m:sub>
                                          <m:r>
                                            <a:rPr lang="en-IN" sz="12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IN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sz="1200" i="1" dirty="0"/>
              </a:p>
              <a:p>
                <a:pPr marL="0" indent="0">
                  <a:buNone/>
                </a:pPr>
                <a:endParaRPr lang="en-IN" sz="5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IN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sz="1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IN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2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sz="12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I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acc>
                            <m:accPr>
                              <m:chr m:val="̃"/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  <m:r>
                            <a:rPr lang="en-IN" sz="1200" i="1" dirty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IN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d>
                          <m:r>
                            <a:rPr lang="en-IN" sz="1200" i="1">
                              <a:latin typeface="Cambria Math" panose="02040503050406030204" pitchFamily="18" charset="0"/>
                            </a:rPr>
                            <m:t>⟨</m:t>
                          </m:r>
                          <m:acc>
                            <m:accPr>
                              <m:chr m:val="̃"/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  <m:r>
                            <a:rPr lang="en-IN" sz="1200" i="1" dirty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I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acc>
                            <m:accPr>
                              <m:chr m:val="̃"/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200" i="1" dirty="0">
                              <a:latin typeface="Cambria Math" panose="02040503050406030204" pitchFamily="18" charset="0"/>
                            </a:rPr>
                            <m:t>⟩⟨</m:t>
                          </m:r>
                          <m:acc>
                            <m:accPr>
                              <m:chr m:val="̃"/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200" i="1" dirty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I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IN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1"/>
                                    </m:rPr>
                                    <a:rPr lang="en-IN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IN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2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IN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IN" sz="12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IN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IN" sz="1200" i="1">
                                          <a:latin typeface="Cambria Math" panose="02040503050406030204" pitchFamily="18" charset="0"/>
                                        </a:rPr>
                                        <m:t>𝑖𝑙</m:t>
                                      </m:r>
                                    </m:sub>
                                    <m:sup>
                                      <m:r>
                                        <a:rPr lang="en-IN" sz="1200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  <m:d>
                            <m:dPr>
                              <m:begChr m:val="|"/>
                              <m:endChr m:val="⟩"/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200" b="0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d>
                          <m:r>
                            <a:rPr lang="en-IN" sz="1200" i="1">
                              <a:latin typeface="Cambria Math" panose="02040503050406030204" pitchFamily="18" charset="0"/>
                            </a:rPr>
                            <m:t>⟨</m:t>
                          </m:r>
                          <m:acc>
                            <m:accPr>
                              <m:chr m:val="̃"/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200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  <m:r>
                            <a:rPr lang="en-IN" sz="1200" i="1" dirty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200" i="1" smtClean="0">
                          <a:latin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I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sz="1200" i="1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IN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sz="1200" i="1">
                                  <a:latin typeface="Cambria Math" panose="02040503050406030204" pitchFamily="18" charset="0"/>
                                </a:rPr>
                                <m:t>𝑖𝑙</m:t>
                              </m:r>
                            </m:sub>
                            <m:sup>
                              <m:r>
                                <a:rPr lang="en-IN" sz="12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nary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IN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IN" sz="1200" i="1" dirty="0"/>
              </a:p>
              <a:p>
                <a:pPr marL="0" indent="0">
                  <a:buNone/>
                </a:pPr>
                <a:endParaRPr lang="en-IN" sz="5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1200" b="0" i="0" dirty="0" smtClean="0">
                          <a:latin typeface="Cambria Math" panose="02040503050406030204" pitchFamily="18" charset="0"/>
                        </a:rPr>
                        <m:t>So</m:t>
                      </m:r>
                      <m:r>
                        <a:rPr lang="en-IN" sz="1200" b="0" i="0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IN" sz="1200" b="0" i="0" dirty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dirty="0" smtClean="0">
                          <a:latin typeface="Cambria Math" panose="02040503050406030204" pitchFamily="18" charset="0"/>
                        </a:rPr>
                        <m:t>columns</m:t>
                      </m:r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dirty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sz="1200" b="0" i="1" smtClean="0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</m:e>
                      </m:d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smtClean="0">
                          <a:latin typeface="Cambria Math" panose="02040503050406030204" pitchFamily="18" charset="0"/>
                        </a:rPr>
                        <m:t>form</m:t>
                      </m:r>
                      <m:r>
                        <a:rPr lang="en-IN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smtClean="0">
                          <a:latin typeface="Cambria Math" panose="02040503050406030204" pitchFamily="18" charset="0"/>
                        </a:rPr>
                        <m:t>an</m:t>
                      </m:r>
                      <m:r>
                        <a:rPr lang="en-IN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smtClean="0">
                          <a:latin typeface="Cambria Math" panose="02040503050406030204" pitchFamily="18" charset="0"/>
                        </a:rPr>
                        <m:t>orthonormal</m:t>
                      </m:r>
                      <m:r>
                        <a:rPr lang="en-IN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smtClean="0">
                          <a:latin typeface="Cambria Math" panose="02040503050406030204" pitchFamily="18" charset="0"/>
                        </a:rPr>
                        <m:t>set</m:t>
                      </m:r>
                      <m:r>
                        <a:rPr lang="en-IN" sz="1200" b="0" i="0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n-IN" sz="1200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1200" b="0" i="0" smtClean="0">
                          <a:latin typeface="Cambria Math" panose="02040503050406030204" pitchFamily="18" charset="0"/>
                        </a:rPr>
                        <m:t>Extend</m:t>
                      </m:r>
                      <m:r>
                        <a:rPr lang="en-IN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smtClean="0">
                          <a:latin typeface="Cambria Math" panose="02040503050406030204" pitchFamily="18" charset="0"/>
                        </a:rPr>
                        <m:t>these</m:t>
                      </m:r>
                      <m:r>
                        <a:rPr lang="en-IN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smtClean="0">
                          <a:latin typeface="Cambria Math" panose="02040503050406030204" pitchFamily="18" charset="0"/>
                        </a:rPr>
                        <m:t>columns</m:t>
                      </m:r>
                      <m:r>
                        <a:rPr lang="en-IN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smtClean="0"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lang="en-IN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smtClean="0">
                          <a:latin typeface="Cambria Math" panose="02040503050406030204" pitchFamily="18" charset="0"/>
                        </a:rPr>
                        <m:t>make</m:t>
                      </m:r>
                      <m:r>
                        <a:rPr lang="en-IN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smtClean="0">
                          <a:latin typeface="Cambria Math" panose="02040503050406030204" pitchFamily="18" charset="0"/>
                        </a:rPr>
                        <m:t>an</m:t>
                      </m:r>
                      <m:r>
                        <a:rPr lang="en-IN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smtClean="0">
                          <a:latin typeface="Cambria Math" panose="02040503050406030204" pitchFamily="18" charset="0"/>
                        </a:rPr>
                        <m:t>orthonormal</m:t>
                      </m:r>
                      <m:r>
                        <a:rPr lang="en-IN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smtClean="0">
                          <a:latin typeface="Cambria Math" panose="02040503050406030204" pitchFamily="18" charset="0"/>
                        </a:rPr>
                        <m:t>basis</m:t>
                      </m:r>
                      <m:r>
                        <a:rPr lang="en-IN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smtClean="0">
                          <a:latin typeface="Cambria Math" panose="02040503050406030204" pitchFamily="18" charset="0"/>
                        </a:rPr>
                        <m:t>which</m:t>
                      </m:r>
                      <m:r>
                        <a:rPr lang="en-IN" sz="1200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IN" sz="1200" b="0" i="0" smtClean="0">
                          <a:latin typeface="Cambria Math" panose="02040503050406030204" pitchFamily="18" charset="0"/>
                        </a:rPr>
                        <m:t>when</m:t>
                      </m:r>
                      <m:r>
                        <a:rPr lang="en-IN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smtClean="0">
                          <a:latin typeface="Cambria Math" panose="02040503050406030204" pitchFamily="18" charset="0"/>
                        </a:rPr>
                        <m:t>used</m:t>
                      </m:r>
                      <m:r>
                        <a:rPr lang="en-IN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smtClean="0">
                          <a:latin typeface="Cambria Math" panose="02040503050406030204" pitchFamily="18" charset="0"/>
                        </a:rPr>
                        <m:t>as</m:t>
                      </m:r>
                      <m:r>
                        <a:rPr lang="en-IN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smtClean="0">
                          <a:latin typeface="Cambria Math" panose="02040503050406030204" pitchFamily="18" charset="0"/>
                        </a:rPr>
                        <m:t>columns</m:t>
                      </m:r>
                      <m:r>
                        <a:rPr lang="en-IN" sz="1200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IN" sz="1200" b="0" i="0" smtClean="0">
                          <a:latin typeface="Cambria Math" panose="02040503050406030204" pitchFamily="18" charset="0"/>
                        </a:rPr>
                        <m:t>create</m:t>
                      </m:r>
                      <m:r>
                        <a:rPr lang="en-IN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IN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smtClean="0">
                          <a:latin typeface="Cambria Math" panose="02040503050406030204" pitchFamily="18" charset="0"/>
                        </a:rPr>
                        <m:t>unitary</m:t>
                      </m:r>
                      <m:r>
                        <a:rPr lang="en-IN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smtClean="0">
                          <a:latin typeface="Cambria Math" panose="02040503050406030204" pitchFamily="18" charset="0"/>
                        </a:rPr>
                        <m:t>matrix</m:t>
                      </m:r>
                      <m:r>
                        <a:rPr lang="en-IN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2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IN" sz="1200" i="1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1200" dirty="0"/>
              </a:p>
              <a:p>
                <a:pPr marL="0" indent="0">
                  <a:buNone/>
                </a:pPr>
                <a:endParaRPr lang="en-IN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1200" b="0" i="0" dirty="0" smtClean="0">
                          <a:latin typeface="Cambria Math" panose="02040503050406030204" pitchFamily="18" charset="0"/>
                        </a:rPr>
                        <m:t>So</m:t>
                      </m:r>
                      <m:r>
                        <a:rPr lang="en-IN" sz="1200" b="0" i="0" dirty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⟩"/>
                          <m:ctrlPr>
                            <a:rPr lang="en-IN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IN" sz="12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IN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200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  <m:r>
                            <a:rPr lang="en-I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acc>
                            <m:accPr>
                              <m:chr m:val="̃"/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  <m:r>
                            <a:rPr lang="en-IN" sz="1200" i="1" dirty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dirty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IN" sz="12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dirty="0" smtClean="0">
                          <a:latin typeface="Cambria Math" panose="02040503050406030204" pitchFamily="18" charset="0"/>
                        </a:rPr>
                        <m:t>similarly</m:t>
                      </m:r>
                      <m:r>
                        <a:rPr lang="en-IN" sz="1200" b="0" i="0" dirty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⟩"/>
                          <m:ctrlPr>
                            <a:rPr lang="en-IN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b="0" i="1" dirty="0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IN" sz="12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IN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200" b="0" i="1" dirty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  <m:r>
                            <a:rPr lang="en-I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acc>
                            <m:accPr>
                              <m:chr m:val="̃"/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  <m:r>
                            <a:rPr lang="en-IN" sz="1200" i="1" dirty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IN" sz="1200" dirty="0"/>
              </a:p>
              <a:p>
                <a:pPr marL="0" indent="0">
                  <a:buNone/>
                </a:pPr>
                <a:endParaRPr lang="en-IN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sz="1200" i="1" smtClean="0">
                          <a:latin typeface="Cambria Math" panose="02040503050406030204" pitchFamily="18" charset="0"/>
                        </a:rPr>
                        <m:t>∴</m:t>
                      </m:r>
                      <m:d>
                        <m:dPr>
                          <m:begChr m:val="|"/>
                          <m:endChr m:val="⟩"/>
                          <m:ctrlPr>
                            <a:rPr lang="en-IN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IN" sz="12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IN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12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⟩"/>
                              <m:ctrlPr>
                                <a:rPr lang="en-IN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en-IN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IN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IN" sz="12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nary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2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dirty="0" smtClean="0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sSup>
                        <m:sSupPr>
                          <m:ctrlPr>
                            <a:rPr lang="en-IN" sz="1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200" b="0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IN" sz="1200" b="0" i="1" dirty="0" smtClean="0"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IN" sz="1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dirty="0" smtClean="0">
                          <a:latin typeface="Cambria Math" panose="02040503050406030204" pitchFamily="18" charset="0"/>
                        </a:rPr>
                        <m:t>being</m:t>
                      </m:r>
                      <m:r>
                        <a:rPr lang="en-IN" sz="12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200" b="0" i="0" dirty="0" smtClean="0">
                          <a:latin typeface="Cambria Math" panose="02040503050406030204" pitchFamily="18" charset="0"/>
                        </a:rPr>
                        <m:t>unitary</m:t>
                      </m:r>
                    </m:oMath>
                  </m:oMathPara>
                </a14:m>
                <a:endParaRPr lang="en-IN" sz="1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D139FE-74E5-4F8E-8972-5993EDAF4A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98618" y="1894786"/>
                <a:ext cx="10151254" cy="4374037"/>
              </a:xfrm>
              <a:blipFill>
                <a:blip r:embed="rId2"/>
                <a:stretch>
                  <a:fillRect l="-781" t="-7113" b="-217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8279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95334-2F02-4C19-AD0B-9CA05FE36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040" y="286603"/>
            <a:ext cx="10200640" cy="145075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Recap: Postulates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F874A75B-94B2-4589-BD97-F24B09F2BB6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687357972"/>
                  </p:ext>
                </p:extLst>
              </p:nvPr>
            </p:nvGraphicFramePr>
            <p:xfrm>
              <a:off x="1096963" y="1846263"/>
              <a:ext cx="10058397" cy="43435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06044">
                      <a:extLst>
                        <a:ext uri="{9D8B030D-6E8A-4147-A177-3AD203B41FA5}">
                          <a16:colId xmlns:a16="http://schemas.microsoft.com/office/drawing/2014/main" val="4260066863"/>
                        </a:ext>
                      </a:extLst>
                    </a:gridCol>
                    <a:gridCol w="4160017">
                      <a:extLst>
                        <a:ext uri="{9D8B030D-6E8A-4147-A177-3AD203B41FA5}">
                          <a16:colId xmlns:a16="http://schemas.microsoft.com/office/drawing/2014/main" val="3380019189"/>
                        </a:ext>
                      </a:extLst>
                    </a:gridCol>
                    <a:gridCol w="4292336">
                      <a:extLst>
                        <a:ext uri="{9D8B030D-6E8A-4147-A177-3AD203B41FA5}">
                          <a16:colId xmlns:a16="http://schemas.microsoft.com/office/drawing/2014/main" val="385756885"/>
                        </a:ext>
                      </a:extLst>
                    </a:gridCol>
                  </a:tblGrid>
                  <a:tr h="410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Postulate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In terms of vectors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In terms of density operator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64639941"/>
                      </a:ext>
                    </a:extLst>
                  </a:tr>
                  <a:tr h="7078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Postulate 1: State Space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System is defined by unit vector in the state space (complex Hilbert Space)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System is defined by density operator in the state space (complex Hilbert Space)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2977295"/>
                      </a:ext>
                    </a:extLst>
                  </a:tr>
                  <a:tr h="7078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Postulate 2: Evolution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𝜓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⟩</m:t>
                                </m:r>
                                <m:groupChr>
                                  <m:groupChrPr>
                                    <m:chr m:val="→"/>
                                    <m:vertJc m:val="bot"/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m:rPr>
                                        <m:brk m:alnAt="2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</m:groupCh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U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𝜓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⟩</m:t>
                                </m:r>
                              </m:oMath>
                            </m:oMathPara>
                          </a14:m>
                          <a:endParaRPr lang="en-IN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  <m:groupChr>
                                  <m:groupChrPr>
                                    <m:chr m:val="→"/>
                                    <m:vertJc m:val="bot"/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m:rPr>
                                        <m:brk m:alnAt="2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</m:groupCh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  <m:sSup>
                                  <m:sSup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p>
                                    <m:r>
                                      <a:rPr lang="en-IN" sz="18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†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57781212"/>
                      </a:ext>
                    </a:extLst>
                  </a:tr>
                  <a:tr h="15063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Postulate 3: Measurement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⟩"/>
                                    <m:ctrlPr>
                                      <a:rPr lang="en-IN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d>
                                <m:groupChr>
                                  <m:groupChrPr>
                                    <m:chr m:val="→"/>
                                    <m:vertJc m:val="bot"/>
                                    <m:ctrlPr>
                                      <a:rPr lang="en-IN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m:rPr>
                                        <m:brk m:alnAt="2"/>
                                      </m:rPr>
                                      <a:rPr lang="en-IN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groupChr>
                                <m:f>
                                  <m:fPr>
                                    <m:ctrlPr>
                                      <a:rPr lang="en-US" sz="18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80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8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IN" sz="18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|"/>
                                        <m:endChr m:val="⟩"/>
                                        <m:ctrlP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𝜓</m:t>
                                        </m:r>
                                      </m:e>
                                    </m:d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sz="180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d>
                                          <m:dPr>
                                            <m:begChr m:val="⟨"/>
                                            <m:endChr m:val="⟩"/>
                                            <m:ctrlPr>
                                              <a:rPr lang="en-US" sz="180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IN" sz="1800" b="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1800" i="1" dirty="0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IN" sz="1800" b="0" i="1" dirty="0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𝑀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sz="1800" b="0" i="1" dirty="0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1800" i="1" dirty="0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†</m:t>
                                                </m:r>
                                              </m:sup>
                                            </m:sSubSup>
                                            <m:sSub>
                                              <m:sSubPr>
                                                <m:ctrlPr>
                                                  <a:rPr lang="en-US" sz="1800" i="1" dirty="0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IN" sz="1800" b="0" i="1" dirty="0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𝑀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sz="1800" b="0" i="1" dirty="0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r>
                                              <a:rPr lang="en-IN" sz="1800" b="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</m:d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IN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sz="1800" b="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with</m:t>
                                </m:r>
                                <m:r>
                                  <a:rPr lang="en-IN" sz="1800" b="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IN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d>
                                <m:r>
                                  <a:rPr lang="en-IN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sz="18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sz="180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IN" sz="18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IN" sz="18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sz="180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†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sz="180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8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IN" sz="18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IN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  <m:groupChr>
                                  <m:groupChrPr>
                                    <m:chr m:val="→"/>
                                    <m:vertJc m:val="bot"/>
                                    <m:ctrlPr>
                                      <a:rPr lang="en-IN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m:rPr>
                                        <m:brk m:alnAt="2"/>
                                      </m:rPr>
                                      <a:rPr lang="en-IN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groupChr>
                                <m:f>
                                  <m:fPr>
                                    <m:ctrlPr>
                                      <a:rPr lang="en-IN" sz="18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IN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IN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IN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  <m:sSubSup>
                                      <m:sSubSupPr>
                                        <m:ctrlPr>
                                          <a:rPr lang="en-IN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IN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IN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IN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†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𝑡𝑟</m:t>
                                    </m:r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en-IN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IN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IN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IN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†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IN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IN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sz="1800" b="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with</m:t>
                                </m:r>
                                <m:r>
                                  <a:rPr lang="en-IN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IN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d>
                                <m:r>
                                  <a:rPr lang="en-IN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𝑡𝑟</m:t>
                                </m:r>
                                <m:r>
                                  <a:rPr lang="en-IN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en-I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†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I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algn="ctr"/>
                          <a:endParaRPr lang="en-IN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2169200"/>
                      </a:ext>
                    </a:extLst>
                  </a:tr>
                  <a:tr h="10112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Postulate 4: Composite Systems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⟩"/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|"/>
                                        <m:endChr m:val="⟩"/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,…,|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𝜓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⟩</m:t>
                                    </m:r>
                                  </m:e>
                                </m:d>
                                <m:r>
                                  <a:rPr lang="en-I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begChr m:val="|"/>
                                    <m:endChr m:val="⟩"/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𝜓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⊗…⊗|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⟩</m:t>
                                </m:r>
                              </m:oMath>
                            </m:oMathPara>
                          </a14:m>
                          <a:endParaRPr lang="en-IN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,…,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I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⊗…⊗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266744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F874A75B-94B2-4589-BD97-F24B09F2BB6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687357972"/>
                  </p:ext>
                </p:extLst>
              </p:nvPr>
            </p:nvGraphicFramePr>
            <p:xfrm>
              <a:off x="1096963" y="1846263"/>
              <a:ext cx="10058397" cy="43435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06044">
                      <a:extLst>
                        <a:ext uri="{9D8B030D-6E8A-4147-A177-3AD203B41FA5}">
                          <a16:colId xmlns:a16="http://schemas.microsoft.com/office/drawing/2014/main" val="4260066863"/>
                        </a:ext>
                      </a:extLst>
                    </a:gridCol>
                    <a:gridCol w="4160017">
                      <a:extLst>
                        <a:ext uri="{9D8B030D-6E8A-4147-A177-3AD203B41FA5}">
                          <a16:colId xmlns:a16="http://schemas.microsoft.com/office/drawing/2014/main" val="3380019189"/>
                        </a:ext>
                      </a:extLst>
                    </a:gridCol>
                    <a:gridCol w="4292336">
                      <a:extLst>
                        <a:ext uri="{9D8B030D-6E8A-4147-A177-3AD203B41FA5}">
                          <a16:colId xmlns:a16="http://schemas.microsoft.com/office/drawing/2014/main" val="385756885"/>
                        </a:ext>
                      </a:extLst>
                    </a:gridCol>
                  </a:tblGrid>
                  <a:tr h="4101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Postulate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In terms of vectors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In terms of density operator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64639941"/>
                      </a:ext>
                    </a:extLst>
                  </a:tr>
                  <a:tr h="7078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Postulate 1: State Space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System is defined by unit vector in the state space (complex Hilbert Space)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System is defined by density operator in the state space (complex Hilbert Space)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2977295"/>
                      </a:ext>
                    </a:extLst>
                  </a:tr>
                  <a:tr h="7078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Postulate 2: Evolution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856" t="-160345" r="-104106" b="-3620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4326" t="-160345" r="-709" b="-3620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7781212"/>
                      </a:ext>
                    </a:extLst>
                  </a:tr>
                  <a:tr h="15063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Postulate 3: Measurement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856" t="-121774" r="-104106" b="-6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4326" t="-121774" r="-709" b="-693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2169200"/>
                      </a:ext>
                    </a:extLst>
                  </a:tr>
                  <a:tr h="10112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Postulate 4: Composite Systems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856" t="-331325" r="-104106" b="-3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4326" t="-331325" r="-709" b="-36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66744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04171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902EF-A3B5-49BB-886C-6189ECA9B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Density Operator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380E75-2313-4D60-A94F-7CE73DBBEE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Let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correspond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to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density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operator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composite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system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Then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density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operator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corresponding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to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system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given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by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IN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𝑡𝑟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example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let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be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1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qubit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systems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be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composite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system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Wrt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basis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(|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00⟩,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⟩,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0⟩,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1⟩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),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let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𝐴𝐵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.5</m:t>
                                      </m:r>
                                    </m:e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0.5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0.5</m:t>
                                      </m:r>
                                    </m:e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0.5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𝑡𝑟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p>
                          </m:sSup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.5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I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0.5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0.5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I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0.5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.5</m:t>
                                </m:r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380E75-2313-4D60-A94F-7CE73DBBEE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2" t="-10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2733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302B2-3EBF-4DF6-9E6E-068B9A65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Operation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AD7A0C-6765-4446-A058-1EDFE29FFE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7328" y="1815589"/>
                <a:ext cx="10058400" cy="4534969"/>
              </a:xfrm>
            </p:spPr>
            <p:txBody>
              <a:bodyPr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We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want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to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model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how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quantum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system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interacts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with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its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environvent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b="0" dirty="0"/>
              </a:p>
              <a:p>
                <a:pPr algn="ctr"/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                                 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Density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operator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of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the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system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IN" b="0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                               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𝑒𝑛𝑣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Density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operator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of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environment</m:t>
                    </m:r>
                  </m:oMath>
                </a14:m>
                <a:endParaRPr lang="en-IN" dirty="0"/>
              </a:p>
              <a:p>
                <a:pPr algn="ctr"/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            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⊗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𝑒𝑛𝑣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Composite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density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operato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</m:oMath>
                </a14:m>
                <a:endParaRPr lang="en-IN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⊗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𝑒𝑛𝑣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Density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operator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after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evolution</m:t>
                    </m:r>
                  </m:oMath>
                </a14:m>
                <a:endParaRPr lang="en-IN" b="0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ℰ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𝑡𝑟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𝑒𝑛𝑣</m:t>
                        </m:r>
                      </m:sub>
                    </m:sSub>
                    <m:d>
                      <m:dPr>
                        <m:ctrlP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⊗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𝑒𝑛𝑣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†</m:t>
                            </m:r>
                          </m:sup>
                        </m:sSup>
                      </m:e>
                    </m:d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Density</m:t>
                    </m:r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operator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of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system</m:t>
                    </m:r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after</m:t>
                    </m:r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evolution</m:t>
                    </m:r>
                  </m:oMath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ℰ</m:t>
                    </m:r>
                    <m:r>
                      <m:rPr>
                        <m:nor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as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defined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above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is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called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quantum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operation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IN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unitary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𝑡𝑟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ℰ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</m:d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𝑡𝑟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If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evolution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system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involves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loss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information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such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as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measurement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), 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then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IN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𝑡𝑟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ℰ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</m:d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</m:t>
                    </m:r>
                  </m:oMath>
                </a14:m>
                <a:endParaRPr lang="en-IN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Density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operator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after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interaction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is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given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by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ℰ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</m:d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𝑡𝑟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IN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ℰ</m:t>
                            </m:r>
                            <m:d>
                              <m:d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d>
                          </m:e>
                        </m:d>
                      </m:den>
                    </m:f>
                  </m:oMath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AD7A0C-6765-4446-A058-1EDFE29FFE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7328" y="1815589"/>
                <a:ext cx="10058400" cy="4534969"/>
              </a:xfrm>
              <a:blipFill>
                <a:blip r:embed="rId2"/>
                <a:stretch>
                  <a:fillRect l="-1273" t="-12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1035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06772-5608-4E16-B7A5-5E96BE9BF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Operation (Theorem 1)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8E865F-8DE5-404B-87D6-3869803F0D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6800" y="2893019"/>
                <a:ext cx="10058400" cy="3497621"/>
              </a:xfrm>
            </p:spPr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Let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⟩</m:t>
                            </m:r>
                          </m:e>
                        </m:d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and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⟩</m:t>
                            </m:r>
                          </m:e>
                        </m:d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be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an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orthonormal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basis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environment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system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respectively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b="0" i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WLOG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let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𝑒𝑛𝑣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=|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⟩⟨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IN" dirty="0"/>
              </a:p>
              <a:p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ℰ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𝑒𝑛𝑣</m:t>
                          </m:r>
                        </m:sub>
                      </m:sSub>
                      <m:d>
                        <m:d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⊗|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⟩⟨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d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⟨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⊗|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⟩⟨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d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IN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⟨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𝜌</m:t>
                          </m:r>
                          <m:sSubSup>
                            <m:sSubSup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IN" dirty="0"/>
              </a:p>
              <a:p>
                <a:pPr marL="0" indent="0" algn="ctr">
                  <a:buNone/>
                </a:pPr>
                <a:r>
                  <a:rPr lang="en-IN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d>
                              <m:dPr>
                                <m:begChr m:val="|"/>
                                <m:endChr m:val="|"/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IN" dirty="0"/>
              </a:p>
              <a:p>
                <a:pPr marL="0" indent="0" algn="ctr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𝑁𝑜𝑡𝑒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:⟨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p>
                                <m:s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I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sSup>
                                    <m:sSup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p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I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IN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p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⟩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8E865F-8DE5-404B-87D6-3869803F0D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6800" y="2893019"/>
                <a:ext cx="10058400" cy="3497621"/>
              </a:xfrm>
              <a:blipFill>
                <a:blip r:embed="rId2"/>
                <a:stretch>
                  <a:fillRect l="-1273" t="-10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FFDA6C94-06A2-4EE3-BE41-B7F474DC66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6647309"/>
                  </p:ext>
                </p:extLst>
              </p:nvPr>
            </p:nvGraphicFramePr>
            <p:xfrm>
              <a:off x="1871561" y="1845734"/>
              <a:ext cx="8128000" cy="96939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38268761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Theorem (Operator Sum Representation)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738885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∀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quantum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operation</m:t>
                                </m:r>
                                <m:r>
                                  <m:rPr>
                                    <m:nor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ℰ</m:t>
                                </m:r>
                                <m:r>
                                  <m:rPr>
                                    <m:nor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IN" i="0" dirty="0" smtClean="0">
                                    <a:latin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𝐸</m:t>
                                            </m:r>
                                          </m:e>
                                          <m:sub>
                                            <m:r>
                                              <a:rPr lang="en-IN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b>
                                    <m: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such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that</m:t>
                                </m:r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m:rPr>
                                    <m:nor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n-IN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ℰ</m:t>
                                </m:r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</m:d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  <m:sSubSup>
                                      <m:sSubSupPr>
                                        <m:ctrlP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IN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†</m:t>
                                        </m:r>
                                      </m:sup>
                                    </m:sSubSup>
                                  </m:e>
                                </m:nary>
                              </m:oMath>
                            </m:oMathPara>
                          </a14:m>
                          <a:endParaRPr lang="en-IN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768406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FFDA6C94-06A2-4EE3-BE41-B7F474DC66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6647309"/>
                  </p:ext>
                </p:extLst>
              </p:nvPr>
            </p:nvGraphicFramePr>
            <p:xfrm>
              <a:off x="1871561" y="1845734"/>
              <a:ext cx="8128000" cy="96939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38268761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Theorem (Operator Sum Representation)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73888562"/>
                      </a:ext>
                    </a:extLst>
                  </a:tr>
                  <a:tr h="5985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50" t="-67677" r="-150" b="-20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684064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64619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06772-5608-4E16-B7A5-5E96BE9BF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Operation (Theorem 2)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8E865F-8DE5-404B-87D6-3869803F0D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0618" y="3394817"/>
                <a:ext cx="9048161" cy="2961640"/>
              </a:xfrm>
            </p:spPr>
            <p:txBody>
              <a:bodyPr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IN" b="1" i="0" smtClean="0">
                        <a:latin typeface="Cambria Math" panose="02040503050406030204" pitchFamily="18" charset="0"/>
                      </a:rPr>
                      <m:t>(⇒)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Let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⟩</m:t>
                            </m:r>
                          </m:e>
                        </m:d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be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an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orthonormal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basis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state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space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.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Define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⟩(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⟩)</m:t>
                          </m:r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         </m:t>
                      </m:r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⟩(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⟩)</m:t>
                          </m:r>
                        </m:e>
                      </m:nary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Observe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that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⟨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⟨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⟩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unitary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∀ </m:t>
                      </m:r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  </m:t>
                      </m:r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d>
                            <m:dPr>
                              <m:begChr m:val="|"/>
                              <m:endChr m:val="⟩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⟩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⟨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begChr m:val="|"/>
                              <m:endChr m:val="⟩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endParaRPr lang="en-IN" b="0" dirty="0"/>
              </a:p>
              <a:p>
                <a:pPr marL="0" indent="0">
                  <a:buNone/>
                </a:pPr>
                <a:endParaRPr lang="en-IN" b="0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8E865F-8DE5-404B-87D6-3869803F0D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0618" y="3394817"/>
                <a:ext cx="9048161" cy="2961640"/>
              </a:xfrm>
              <a:blipFill>
                <a:blip r:embed="rId2"/>
                <a:stretch>
                  <a:fillRect l="-1415" t="-22428" r="-3976" b="-372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FFDA6C94-06A2-4EE3-BE41-B7F474DC66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4621345"/>
                  </p:ext>
                </p:extLst>
              </p:nvPr>
            </p:nvGraphicFramePr>
            <p:xfrm>
              <a:off x="1871561" y="1845734"/>
              <a:ext cx="8128000" cy="154908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38268761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Theorem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738885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Let</m:t>
                                </m:r>
                                <m:r>
                                  <m:rPr>
                                    <m:nor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ℰ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,…,</m:t>
                                    </m:r>
                                    <m:sSub>
                                      <m:sSubPr>
                                        <m:ctrlP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and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ℱ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,…,</m:t>
                                    </m:r>
                                    <m:sSub>
                                      <m:sSubPr>
                                        <m:ctrlP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be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 2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quantum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operations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oMath>
                            </m:oMathPara>
                          </a14:m>
                          <a:endParaRPr lang="en-IN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By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appending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to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te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shorter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list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let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oMath>
                            </m:oMathPara>
                          </a14:m>
                          <a:endParaRPr lang="en-IN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IN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ℰ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ℱ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⇔</m:t>
                                </m:r>
                                <m:sSub>
                                  <m:sSubPr>
                                    <m:ctrlP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1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for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some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unitary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matrix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oMath>
                            </m:oMathPara>
                          </a14:m>
                          <a:endParaRPr lang="en-IN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768406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FFDA6C94-06A2-4EE3-BE41-B7F474DC66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4621345"/>
                  </p:ext>
                </p:extLst>
              </p:nvPr>
            </p:nvGraphicFramePr>
            <p:xfrm>
              <a:off x="1871561" y="1845734"/>
              <a:ext cx="8128000" cy="154908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38268761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Theorem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73888562"/>
                      </a:ext>
                    </a:extLst>
                  </a:tr>
                  <a:tr h="11782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50" t="-34536" r="-150" b="-10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684064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B0DE9B29-30C5-4B19-A825-8FC699A01EDC}"/>
              </a:ext>
            </a:extLst>
          </p:cNvPr>
          <p:cNvSpPr/>
          <p:nvPr/>
        </p:nvSpPr>
        <p:spPr>
          <a:xfrm>
            <a:off x="9389098" y="3469063"/>
            <a:ext cx="45719" cy="28402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060D3B02-8719-4DED-A053-B22AC61DA8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58779" y="3840481"/>
                <a:ext cx="1889289" cy="1999488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 fontScale="70000" lnSpcReduction="20000"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d>
                      <m:d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smtClean="0">
                            <a:latin typeface="Cambria Math" panose="02040503050406030204" pitchFamily="18" charset="0"/>
                          </a:rPr>
                          <m:t>⇐</m:t>
                        </m:r>
                      </m:e>
                    </m:d>
                    <m:r>
                      <a:rPr lang="en-IN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b="1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Basic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algebra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shows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b="0" i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that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IN" b="0" dirty="0"/>
              </a:p>
              <a:p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sSubSup>
                            <m:sSubSupPr>
                              <m:ctrlP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𝜌</m:t>
                          </m:r>
                          <m:sSubSup>
                            <m:sSubSup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IN" dirty="0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IN" dirty="0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060D3B02-8719-4DED-A053-B22AC61DA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8779" y="3840481"/>
                <a:ext cx="1889289" cy="1999488"/>
              </a:xfrm>
              <a:prstGeom prst="rect">
                <a:avLst/>
              </a:prstGeom>
              <a:blipFill>
                <a:blip r:embed="rId4"/>
                <a:stretch>
                  <a:fillRect l="-31935" r="-37742" b="-423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2812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A2718-D1BF-432A-A3E5-C0390175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 Of Error Correction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6C8F01-67F7-40CB-99B3-187D82C47B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7440" y="1845734"/>
                <a:ext cx="10058400" cy="402336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𝐒𝐭𝐚𝐭𝐞</m:t>
                      </m:r>
                      <m:r>
                        <a:rPr lang="en-IN" b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𝐬𝐩𝐚𝐜𝐞</m:t>
                      </m:r>
                      <m:d>
                        <m:d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𝑽</m:t>
                          </m:r>
                          <m:r>
                            <a:rPr lang="en-IN" b="1">
                              <a:latin typeface="Cambria Math" panose="02040503050406030204" pitchFamily="18" charset="0"/>
                            </a:rPr>
                            <m:t>≅</m:t>
                          </m:r>
                          <m:sSup>
                            <m:sSup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1">
                                  <a:latin typeface="Cambria Math" panose="02040503050406030204" pitchFamily="18" charset="0"/>
                                </a:rPr>
                                <m:t>ℂ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</m:sSup>
                            </m:sup>
                          </m:sSup>
                        </m:e>
                      </m:d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Complex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Hilbert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space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corresponding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qubit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system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𝐂𝐨𝐝𝐞𝐬𝐩𝐚𝐜𝐞</m:t>
                      </m:r>
                      <m:d>
                        <m:d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</m:d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Subspace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codewords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𝐏𝐫𝐨𝐣𝐞𝐜𝐭𝐨𝐫</m:t>
                      </m:r>
                      <m:d>
                        <m:d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</m:d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Projector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onto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codespace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d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orthonormal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basis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then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dirty="0" smtClean="0">
                          <a:latin typeface="Cambria Math" panose="02040503050406030204" pitchFamily="18" charset="0"/>
                        </a:rPr>
                        <m:t>≡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⟩⟨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b="1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𝐍𝐨𝐢𝐬𝐞</m:t>
                      </m:r>
                      <m:d>
                        <m:d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ℰ</m:t>
                          </m:r>
                        </m:e>
                      </m:d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Quantum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operation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corresponding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error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in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sent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codeword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May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not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be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trace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preserving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endParaRPr lang="en-IN" b="1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𝐄𝐫𝐫𝐨𝐫</m:t>
                      </m:r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𝐂𝐨𝐫𝐫𝐞𝐜𝐭𝐢𝐨𝐧</m:t>
                      </m:r>
                      <m:d>
                        <m:d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ℛ</m:t>
                          </m:r>
                        </m:e>
                      </m:d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Trace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preserving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quantum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opperation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such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that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ℛ</m:t>
                      </m:r>
                      <m:r>
                        <a:rPr lang="en-IN" dirty="0" smtClean="0">
                          <a:latin typeface="Cambria Math" panose="02040503050406030204" pitchFamily="18" charset="0"/>
                        </a:rPr>
                        <m:t>∘</m:t>
                      </m:r>
                      <m:r>
                        <m:rPr>
                          <m:nor/>
                        </m:rPr>
                        <a:rPr lang="en-IN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ℰ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whose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support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in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IN" i="1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6C8F01-67F7-40CB-99B3-187D82C47B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7440" y="1845734"/>
                <a:ext cx="10058400" cy="4023360"/>
              </a:xfrm>
              <a:blipFill>
                <a:blip r:embed="rId2"/>
                <a:stretch>
                  <a:fillRect l="-9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4134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1F095-EAA4-40FC-8D8A-24C45A8B0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Existence of Error Correction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9AE2DC-54DF-4745-A85D-87BD7573BD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63268" y="2935373"/>
                <a:ext cx="10058400" cy="3544584"/>
              </a:xfrm>
            </p:spPr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⇒</m:t>
                        </m:r>
                      </m:e>
                    </m:d>
                    <m:r>
                      <a:rPr lang="en-IN" b="0" i="0" smtClean="0">
                        <a:latin typeface="Cambria Math" panose="02040503050406030204" pitchFamily="18" charset="0"/>
                      </a:rPr>
                      <m:t>      </m:t>
                    </m:r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Let</m:t>
                    </m:r>
                    <m:r>
                      <a:rPr lang="en-IN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be</m:t>
                    </m:r>
                    <m:r>
                      <a:rPr lang="en-IN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IN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operation</m:t>
                    </m:r>
                    <m:r>
                      <a:rPr lang="en-IN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elements</m:t>
                    </m:r>
                    <m:r>
                      <a:rPr lang="en-IN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of</m:t>
                    </m:r>
                    <m:r>
                      <m:rPr>
                        <m:nor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m:rPr>
                        <m:nor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I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is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density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operator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in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or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codespace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IN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ℛ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ℰ</m:t>
                          </m:r>
                          <m:d>
                            <m:dPr>
                              <m:ctrlP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e>
                      </m:d>
                      <m: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⇒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sSubSup>
                            <m:sSubSup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IN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d>
                        <m:dPr>
                          <m:begChr m:val="{"/>
                          <m:endChr m:val="}"/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I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</m:rad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So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∃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complex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numbers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𝑘𝑖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such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that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 </m:t>
                      </m:r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𝑘𝑖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𝑃</m:t>
                      </m:r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𝑘𝑖</m:t>
                          </m:r>
                        </m:sub>
                        <m:sup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𝑘𝑖</m:t>
                                  </m:r>
                                </m:sub>
                                <m:sup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𝑃</m:t>
                      </m:r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d>
                        <m:d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𝑃</m:t>
                      </m:r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𝑃</m:t>
                      </m:r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i="1" dirty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So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sSubSup>
                        <m:sSubSup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𝑘𝑖</m:t>
                              </m:r>
                            </m:sub>
                            <m:sup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𝑘𝑗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9AE2DC-54DF-4745-A85D-87BD7573BD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3268" y="2935373"/>
                <a:ext cx="10058400" cy="3544584"/>
              </a:xfrm>
              <a:blipFill>
                <a:blip r:embed="rId2"/>
                <a:stretch>
                  <a:fillRect l="-788" t="-1893" b="-342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C41CBF66-F8B6-4E39-8E79-2278F6B8B5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1463914"/>
                  </p:ext>
                </p:extLst>
              </p:nvPr>
            </p:nvGraphicFramePr>
            <p:xfrm>
              <a:off x="1871561" y="1845734"/>
              <a:ext cx="8128000" cy="10727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38268761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Theorem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738885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Let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𝐸</m:t>
                                            </m:r>
                                          </m:e>
                                          <m:sub>
                                            <m:r>
                                              <a:rPr lang="en-IN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b>
                                    <m: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be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operation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elements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of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ℰ</m:t>
                                </m:r>
                                <m:r>
                                  <m:rPr>
                                    <m:nor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</m:oMath>
                            </m:oMathPara>
                          </a14:m>
                          <a:endParaRPr lang="en-IN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i="0" dirty="0" smtClean="0">
                                    <a:latin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error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correction</m:t>
                                </m:r>
                                <m:r>
                                  <m:rPr>
                                    <m:nor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ℛ</m:t>
                                </m:r>
                                <m:r>
                                  <m:rPr>
                                    <m:nor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for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noise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ℰ</m:t>
                                </m:r>
                                <m:r>
                                  <m:rPr>
                                    <m:nor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⇔</m:t>
                                </m:r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sSubSup>
                                  <m:sSubSupPr>
                                    <m:ctrlP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IN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†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for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some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Hermitian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matrix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IN" b="0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768406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C41CBF66-F8B6-4E39-8E79-2278F6B8B5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1463914"/>
                  </p:ext>
                </p:extLst>
              </p:nvPr>
            </p:nvGraphicFramePr>
            <p:xfrm>
              <a:off x="1871561" y="1845734"/>
              <a:ext cx="8128000" cy="10727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38268761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Theorem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73888562"/>
                      </a:ext>
                    </a:extLst>
                  </a:tr>
                  <a:tr h="7018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50" t="-57759" r="-150" b="-43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684064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55272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9C3B5-BDE2-42A6-86BF-7C0E2C01E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Existence of Error Correction  (cont.)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572FA4-C782-4A3C-B98B-3BB4C82283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9711" y="1845734"/>
                <a:ext cx="10767060" cy="4023360"/>
              </a:xfrm>
            </p:spPr>
            <p:txBody>
              <a:bodyPr>
                <a:normAutofit fontScale="70000" lnSpcReduction="20000"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⇐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Hermitian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⇒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I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unitary</m:t>
                    </m:r>
                    <m:r>
                      <a:rPr lang="en-I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matrix</m:t>
                    </m:r>
                    <m:r>
                      <a:rPr lang="en-I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I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such</m:t>
                    </m:r>
                    <m:r>
                      <a:rPr lang="en-I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that</m:t>
                    </m:r>
                    <m:r>
                      <a:rPr lang="en-I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I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I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I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is</m:t>
                    </m:r>
                    <m:r>
                      <a:rPr lang="en-I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I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diagonal</m:t>
                    </m:r>
                    <m:r>
                      <a:rPr lang="en-I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matrix</m:t>
                    </m:r>
                  </m:oMath>
                </a14:m>
                <a:endParaRPr lang="en-IN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nor/>
                        </m:rPr>
                        <a:rPr lang="en-IN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ℰ</m:t>
                      </m:r>
                      <m:r>
                        <a:rPr lang="en-IN" dirty="0" smtClean="0"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IN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dirty="0"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9"/>
                                    </m:rP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I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dirty="0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IN" b="0" i="1" dirty="0" smtClean="0">
                                          <a:latin typeface="Cambria Math" panose="02040503050406030204" pitchFamily="18" charset="0"/>
                                        </a:rPr>
                                        <m:t>𝑖𝑘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dirty="0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IN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Observe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that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𝑃</m:t>
                      </m:r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IN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Sup>
                                <m:sSubSupPr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𝑘𝑖</m:t>
                                  </m:r>
                                </m:sub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𝑗𝑙</m:t>
                              </m:r>
                            </m:sub>
                          </m:s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nary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𝑘𝑙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𝑘𝑙</m:t>
                          </m:r>
                        </m:sub>
                      </m:sSub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𝑘𝑘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By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polar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decomposition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sSubSup>
                            <m:sSubSup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ra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𝑘𝑘</m:t>
                              </m:r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some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unitary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.   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Define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𝑘𝑘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sSubSup>
                            <m:sSubSup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𝑘𝑘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IN" b="0" i="1" dirty="0"/>
              </a:p>
              <a:p>
                <a:pPr marL="0" indent="0">
                  <a:buNone/>
                </a:pPr>
                <a:endParaRPr lang="en-IN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𝑘𝑘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𝑘𝑙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𝑘𝑘</m:t>
                              </m:r>
                            </m:sub>
                          </m:sSub>
                        </m:e>
                      </m:rad>
                      <m:r>
                        <a:rPr lang="en-IN" i="1" dirty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IN" i="1" dirty="0"/>
              </a:p>
              <a:p>
                <a:pPr marL="0" indent="0">
                  <a:buNone/>
                </a:pPr>
                <a:endParaRPr lang="en-IN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Define</m:t>
                      </m:r>
                      <m:r>
                        <m:rPr>
                          <m:nor/>
                        </m:rPr>
                        <a:rPr lang="en-IN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̃"/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ℛ</m:t>
                          </m:r>
                        </m:e>
                      </m:acc>
                      <m:r>
                        <a:rPr lang="en-IN" i="1" dirty="0"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hr m:val="̃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ℛ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ℰ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sSubSup>
                            <m:sSubSup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𝑘𝑙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𝑘𝑘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nary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IN" b="0" i="1" dirty="0"/>
              </a:p>
              <a:p>
                <a:pPr marL="0" indent="0">
                  <a:buNone/>
                </a:pPr>
                <a:endParaRPr lang="en-IN" b="0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572FA4-C782-4A3C-B98B-3BB4C82283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9711" y="1845734"/>
                <a:ext cx="10767060" cy="4023360"/>
              </a:xfrm>
              <a:blipFill>
                <a:blip r:embed="rId2"/>
                <a:stretch>
                  <a:fillRect t="-13939" r="-4757" b="-204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5878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6FD68-E751-4B83-8C07-D61132160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Discretization Of Errors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1C1511-4B2F-4165-B7F2-E8667ECEE4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3281322"/>
                <a:ext cx="10058400" cy="2587772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ℰ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correctable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𝑃</m:t>
                      </m:r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IN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WLOG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let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be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diagonal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From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previous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results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we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get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𝑘𝑘</m:t>
                              </m:r>
                            </m:sub>
                          </m:sSub>
                        </m:e>
                      </m:rad>
                      <m:r>
                        <a:rPr lang="en-IN" i="1" dirty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IN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⇒ </m:t>
                      </m:r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nary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𝑘𝑖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𝑘𝑘</m:t>
                                  </m:r>
                                </m:sub>
                              </m:sSub>
                            </m:e>
                          </m:rad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𝑘𝑘</m:t>
                              </m:r>
                            </m:sub>
                          </m:sSub>
                        </m:e>
                      </m:rad>
                      <m:r>
                        <a:rPr lang="en-IN" i="1" dirty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IN" i="1" dirty="0"/>
              </a:p>
              <a:p>
                <a:pPr marL="0" indent="0">
                  <a:buNone/>
                </a:pPr>
                <a:endParaRPr lang="en-IN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ℛ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ℱ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sSubSup>
                            <m:sSubSup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𝑗𝑘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𝑘𝑘</m:t>
                              </m:r>
                            </m:sub>
                          </m:s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nary>
                      <m:r>
                        <a:rPr lang="en-IN" i="1" dirty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IN" i="1" dirty="0"/>
              </a:p>
              <a:p>
                <a:pPr marL="0" indent="0">
                  <a:buNone/>
                </a:pPr>
                <a:endParaRPr lang="en-IN" b="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1C1511-4B2F-4165-B7F2-E8667ECEE4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3281322"/>
                <a:ext cx="10058400" cy="2587772"/>
              </a:xfrm>
              <a:blipFill>
                <a:blip r:embed="rId2"/>
                <a:stretch>
                  <a:fillRect l="-8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02A6F9C1-D893-4280-AD56-E6BD43AE6A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6145304"/>
                  </p:ext>
                </p:extLst>
              </p:nvPr>
            </p:nvGraphicFramePr>
            <p:xfrm>
              <a:off x="1225485" y="1845734"/>
              <a:ext cx="9473938" cy="13272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73938">
                      <a:extLst>
                        <a:ext uri="{9D8B030D-6E8A-4147-A177-3AD203B41FA5}">
                          <a16:colId xmlns:a16="http://schemas.microsoft.com/office/drawing/2014/main" val="38268761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Theorem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738885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Let</m:t>
                                </m:r>
                                <m:r>
                                  <m:rPr>
                                    <m:nor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ℰ</m:t>
                                </m:r>
                                <m:r>
                                  <m:rPr>
                                    <m:nor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≡</m:t>
                                </m:r>
                                <m:sSub>
                                  <m:sSubPr>
                                    <m:ctrlP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𝐸</m:t>
                                            </m:r>
                                          </m:e>
                                          <m:sub>
                                            <m:r>
                                              <a:rPr lang="en-IN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b>
                                    <m: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be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correctable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noise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and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let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ℛ</m:t>
                                    </m:r>
                                  </m:e>
                                </m:acc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be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standard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error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corrector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described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above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</m:oMath>
                            </m:oMathPara>
                          </a14:m>
                          <a:endParaRPr lang="en-IN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Then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ℛ</m:t>
                                    </m:r>
                                  </m:e>
                                </m:acc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also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corrects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ℱ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≡</m:t>
                                </m:r>
                                <m:sSub>
                                  <m:sSubPr>
                                    <m:ctrlP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lang="en-IN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nary>
                                          <m:naryPr>
                                            <m:chr m:val="∑"/>
                                            <m:limLoc m:val="subSup"/>
                                            <m:supHide m:val="on"/>
                                            <m:ctrlPr>
                                              <a:rPr lang="en-IN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brk m:alnAt="9"/>
                                              </m:rPr>
                                              <a:rPr lang="en-IN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  <m:sup/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IN" b="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IN" b="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b="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𝑗𝑖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IN" b="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IN" b="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𝐸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b="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nary>
                                      </m:e>
                                    </m:d>
                                  </m:e>
                                  <m:sub>
                                    <m: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 ∀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non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zero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matrix</m:t>
                                </m:r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IN" b="0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768406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02A6F9C1-D893-4280-AD56-E6BD43AE6A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6145304"/>
                  </p:ext>
                </p:extLst>
              </p:nvPr>
            </p:nvGraphicFramePr>
            <p:xfrm>
              <a:off x="1225485" y="1845734"/>
              <a:ext cx="9473938" cy="13272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73938">
                      <a:extLst>
                        <a:ext uri="{9D8B030D-6E8A-4147-A177-3AD203B41FA5}">
                          <a16:colId xmlns:a16="http://schemas.microsoft.com/office/drawing/2014/main" val="38268761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Theorem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73888562"/>
                      </a:ext>
                    </a:extLst>
                  </a:tr>
                  <a:tr h="95637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29" t="-42405" r="-129" b="-12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684064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44490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4407A-F663-4356-A155-92D897388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Discretization Of Errors (cont.)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890DE2-D82E-4586-A2CF-D2A00479F0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4036906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Consider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matrices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en-IN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IN" b="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They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form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basis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</m:t>
                        </m:r>
                      </m:sub>
                    </m:sSub>
                    <m:d>
                      <m:d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So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any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code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that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can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handle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single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or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error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can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handle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all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1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qubit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errors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. (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Eg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Shor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Code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b="0" dirty="0"/>
              </a:p>
              <a:p>
                <a:endParaRPr lang="en-IN" b="0" dirty="0"/>
              </a:p>
              <a:p>
                <a:pPr marL="0" indent="0">
                  <a:buNone/>
                </a:pPr>
                <a:endParaRPr lang="en-IN" b="0" dirty="0"/>
              </a:p>
              <a:p>
                <a:pPr marL="0" indent="0">
                  <a:buNone/>
                </a:pPr>
                <a:endParaRPr lang="en-I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dirty="0">
                          <a:latin typeface="Cambria Math" panose="02040503050406030204" pitchFamily="18" charset="0"/>
                        </a:rPr>
                        <m:t>Generalizi</m:t>
                      </m:r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any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code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that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can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handle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errors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combined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can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handle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possible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qubit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errors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We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call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such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codes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as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error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correcting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codes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We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will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next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discuss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family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codes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called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1" i="0" dirty="0" smtClean="0">
                          <a:latin typeface="Cambria Math" panose="02040503050406030204" pitchFamily="18" charset="0"/>
                        </a:rPr>
                        <m:t>𝐒𝐭𝐚𝐛𝐢𝐥𝐢𝐳𝐚𝐫</m:t>
                      </m:r>
                      <m:r>
                        <a:rPr lang="en-IN" b="1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1" i="0" dirty="0" smtClean="0">
                          <a:latin typeface="Cambria Math" panose="02040503050406030204" pitchFamily="18" charset="0"/>
                        </a:rPr>
                        <m:t>𝐂𝐨𝐝𝐞𝐬</m:t>
                      </m:r>
                      <m:r>
                        <a:rPr lang="en-IN" b="1" i="0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endParaRPr lang="en-IN" b="0" dirty="0"/>
              </a:p>
              <a:p>
                <a:pPr marL="0" indent="0">
                  <a:buNone/>
                </a:pPr>
                <a:endParaRPr lang="en-IN" b="0" dirty="0"/>
              </a:p>
              <a:p>
                <a:pPr marL="0" indent="0">
                  <a:buNone/>
                </a:pPr>
                <a:endParaRPr lang="en-IN" b="0" dirty="0"/>
              </a:p>
              <a:p>
                <a:pPr marL="0" indent="0">
                  <a:buNone/>
                </a:pPr>
                <a:endParaRPr lang="en-IN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890DE2-D82E-4586-A2CF-D2A00479F0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4036906"/>
              </a:xfrm>
              <a:blipFill>
                <a:blip r:embed="rId2"/>
                <a:stretch>
                  <a:fillRect l="-1273" b="-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F0553E9-1B30-46F3-8298-A0B489299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175" y="3080355"/>
            <a:ext cx="3043650" cy="15140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A5F97B-892C-45BE-8ECA-9A2D045022DF}"/>
                  </a:ext>
                </a:extLst>
              </p:cNvPr>
              <p:cNvSpPr txBox="1"/>
              <p:nvPr/>
            </p:nvSpPr>
            <p:spPr>
              <a:xfrm>
                <a:off x="5428563" y="4594444"/>
                <a:ext cx="133487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1050" b="0" i="0" smtClean="0">
                          <a:latin typeface="Cambria Math" panose="02040503050406030204" pitchFamily="18" charset="0"/>
                        </a:rPr>
                        <m:t>Shor</m:t>
                      </m:r>
                      <m:r>
                        <a:rPr lang="en-IN" sz="105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050" b="0" i="0" smtClean="0">
                          <a:latin typeface="Cambria Math" panose="02040503050406030204" pitchFamily="18" charset="0"/>
                        </a:rPr>
                        <m:t>Code</m:t>
                      </m:r>
                      <m:r>
                        <a:rPr lang="en-IN" sz="105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050" b="0" i="0" smtClean="0">
                          <a:latin typeface="Cambria Math" panose="02040503050406030204" pitchFamily="18" charset="0"/>
                        </a:rPr>
                        <m:t>Circuit</m:t>
                      </m:r>
                    </m:oMath>
                  </m:oMathPara>
                </a14:m>
                <a:endParaRPr lang="en-IN" sz="10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A5F97B-892C-45BE-8ECA-9A2D04502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563" y="4594444"/>
                <a:ext cx="1334874" cy="2616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1108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9D4A6-ECA5-4726-BD59-1D570CBDE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Pauli Matrices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640FCF-CC62-43E0-96E7-B376168D4C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matrices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are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called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Pauli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matrices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1" i="0" dirty="0" smtClean="0">
                          <a:latin typeface="Cambria Math" panose="02040503050406030204" pitchFamily="18" charset="0"/>
                        </a:rPr>
                        <m:t>𝐏𝐫𝐨𝐩𝐞𝐫𝐭𝐢𝐞𝐬</m:t>
                      </m:r>
                      <m:r>
                        <a:rPr lang="en-IN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IN" b="1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,  </m:t>
                    </m:r>
                    <m:sSup>
                      <m:sSup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IN" b="0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or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𝐵𝐴</m:t>
                    </m:r>
                  </m:oMath>
                </a14:m>
                <a:endParaRPr lang="en-IN" b="0" i="1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𝑋𝑌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𝑖𝑍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𝑌𝑍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𝑖𝑋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𝑍𝑋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𝑖𝑌</m:t>
                    </m:r>
                  </m:oMath>
                </a14:m>
                <a:endParaRPr lang="en-IN" b="0" i="1" dirty="0"/>
              </a:p>
              <a:p>
                <a:pPr marL="457200" indent="-457200">
                  <a:buFont typeface="+mj-lt"/>
                  <a:buAutoNum type="arabicPeriod"/>
                </a:pPr>
                <a:endParaRPr lang="en-IN" b="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Consider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set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1,−1,</m:t>
                              </m:r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,−</m:t>
                              </m:r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IN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b="0" i="0" dirty="0" smtClean="0">
                              <a:latin typeface="Cambria Math" panose="02040503050406030204" pitchFamily="18" charset="0"/>
                            </a:rPr>
                            <m:t>and</m:t>
                          </m:r>
                          <m:r>
                            <a:rPr lang="en-IN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,∘</m:t>
                          </m:r>
                        </m:e>
                      </m:d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group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following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property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∀ 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𝐵𝐴</m:t>
                      </m:r>
                      <m:r>
                        <a:rPr lang="en-IN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dirty="0">
                          <a:latin typeface="Cambria Math" panose="02040503050406030204" pitchFamily="18" charset="0"/>
                        </a:rPr>
                        <m:t>or</m:t>
                      </m:r>
                      <m:r>
                        <a:rPr lang="en-IN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𝐵𝐴</m:t>
                      </m:r>
                    </m:oMath>
                  </m:oMathPara>
                </a14:m>
                <a:endParaRPr lang="en-IN" i="1" dirty="0"/>
              </a:p>
              <a:p>
                <a:pPr marL="0" indent="0">
                  <a:buNone/>
                </a:pPr>
                <a:endParaRPr lang="en-IN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We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define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group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as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  <m:sSub>
                            <m:sSubPr>
                              <m:ctrlP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⊗…⊗</m:t>
                          </m:r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1,−1,</m:t>
                              </m:r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,−</m:t>
                              </m:r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IN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dirty="0">
                              <a:latin typeface="Cambria Math" panose="02040503050406030204" pitchFamily="18" charset="0"/>
                            </a:rPr>
                            <m:t>and</m:t>
                          </m:r>
                          <m:r>
                            <a:rPr lang="en-IN" dirty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N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Observe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that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has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same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property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as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∀ 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𝐵𝐴</m:t>
                      </m:r>
                      <m:r>
                        <a:rPr lang="en-IN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dirty="0">
                          <a:latin typeface="Cambria Math" panose="02040503050406030204" pitchFamily="18" charset="0"/>
                        </a:rPr>
                        <m:t>or</m:t>
                      </m:r>
                      <m:r>
                        <a:rPr lang="en-IN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𝐵𝐴</m:t>
                      </m:r>
                    </m:oMath>
                  </m:oMathPara>
                </a14:m>
                <a:endParaRPr lang="en-IN" i="1" dirty="0"/>
              </a:p>
              <a:p>
                <a:pPr marL="0" indent="0">
                  <a:buNone/>
                </a:pPr>
                <a:endParaRPr lang="en-IN" i="1" dirty="0"/>
              </a:p>
              <a:p>
                <a:pPr marL="0" indent="0">
                  <a:buNone/>
                </a:pPr>
                <a:endParaRPr lang="en-IN" b="0" dirty="0"/>
              </a:p>
              <a:p>
                <a:pPr marL="0" indent="0">
                  <a:buNone/>
                </a:pPr>
                <a:endParaRPr lang="en-IN" b="0" i="1" dirty="0"/>
              </a:p>
              <a:p>
                <a:pPr marL="457200" indent="-457200">
                  <a:buFont typeface="+mj-lt"/>
                  <a:buAutoNum type="arabicPeriod"/>
                </a:pPr>
                <a:endParaRPr lang="en-IN" b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640FCF-CC62-43E0-96E7-B376168D4C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9572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17EB0-AE5A-499A-83CB-ED4BAB76D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Stabilizer Codes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A48243-C859-47CF-80F4-D4B6871A56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436202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Let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𝒮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be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commutative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subgroup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of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such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that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∉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𝒮</m:t>
                      </m:r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𝐂𝐨𝐝𝐞𝐬𝐩𝐚𝐜𝐞</m:t>
                      </m:r>
                      <m:r>
                        <a:rPr lang="en-IN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: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∀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𝒮</m:t>
                          </m:r>
                        </m:e>
                      </m:d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𝐏𝐫𝐨𝐣𝐞𝐜𝐭𝐨𝐫</m:t>
                      </m:r>
                    </m:oMath>
                  </m:oMathPara>
                </a14:m>
                <a:endParaRPr lang="en-IN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Let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𝒮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Then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⋂"/>
                          <m:limLoc m:val="subSup"/>
                          <m:sup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𝐸𝑖𝑔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,+1)</m:t>
                          </m:r>
                        </m:e>
                      </m:nary>
                    </m:oMath>
                  </m:oMathPara>
                </a14:m>
                <a:endParaRPr lang="en-I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is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the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projector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onto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the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subspace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𝐸𝑖𝑔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,+1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(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Observe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that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all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commute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I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subSup"/>
                          <m:sup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𝐂𝐞𝐧𝐭𝐫𝐚𝐥𝐢𝐳𝐞𝐫</m:t>
                      </m:r>
                      <m:r>
                        <a:rPr lang="en-IN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𝒮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𝐸𝑀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𝑀𝐸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∀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𝒮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A48243-C859-47CF-80F4-D4B6871A56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4362026"/>
              </a:xfrm>
              <a:blipFill>
                <a:blip r:embed="rId2"/>
                <a:stretch>
                  <a:fillRect l="-1212" t="-8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7947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0D52D-FE72-45F2-B7D3-47C03D323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Stabilizer Codes (cont.)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CE99C5-E37E-49E0-B267-47566D9E72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41120" y="2985623"/>
                <a:ext cx="9814560" cy="3445657"/>
              </a:xfrm>
            </p:spPr>
            <p:txBody>
              <a:bodyPr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IN" b="1" i="0" smtClean="0">
                        <a:latin typeface="Cambria Math" panose="02040503050406030204" pitchFamily="18" charset="0"/>
                      </a:rPr>
                      <m:t>𝐂𝐚𝐬𝐞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: </m:t>
                    </m:r>
                    <m:sSubSup>
                      <m:sSubSup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bSup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                ∀</m:t>
                    </m:r>
                    <m:d>
                      <m:dPr>
                        <m:begChr m:val="|"/>
                        <m:endChr m:val="⟩"/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|"/>
                        <m:endChr m:val="⟩"/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sSubSup>
                      <m:sSubSup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bSup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|"/>
                        <m:endChr m:val="⟩"/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|"/>
                        <m:endChr m:val="⟩"/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sSubSup>
                      <m:sSubSup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bSup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N" dirty="0">
                  <a:ea typeface="Cambria Math" panose="02040503050406030204" pitchFamily="18" charset="0"/>
                </a:endParaRPr>
              </a:p>
              <a:p>
                <a:endParaRPr lang="en-IN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IN" b="1" i="0" smtClean="0">
                        <a:latin typeface="Cambria Math" panose="02040503050406030204" pitchFamily="18" charset="0"/>
                      </a:rPr>
                      <m:t>𝐂𝐚𝐬𝐞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: </m:t>
                    </m:r>
                    <m:sSubSup>
                      <m:sSubSup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bSup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dirty="0">
                        <a:latin typeface="Cambria Math" panose="02040503050406030204" pitchFamily="18" charset="0"/>
                      </a:rPr>
                      <m:t>∖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</m:e>
                    </m:d>
                  </m:oMath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𝒮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dirty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such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that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WLOG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let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endParaRPr lang="en-IN" sz="1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 dirty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⇒</m:t>
                      </m:r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             ;                 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=0⇒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4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1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nary>
                        <m:naryPr>
                          <m:chr m:val="∏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nary>
                        <m:naryPr>
                          <m:chr m:val="∏"/>
                          <m:limLoc m:val="subSup"/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sSub>
                            <m:sSubPr>
                              <m:ctrlP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endParaRPr lang="en-IN" sz="1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CE99C5-E37E-49E0-B267-47566D9E72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1120" y="2985623"/>
                <a:ext cx="9814560" cy="3445657"/>
              </a:xfrm>
              <a:blipFill>
                <a:blip r:embed="rId2"/>
                <a:stretch>
                  <a:fillRect l="-1242" t="-3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E394EF03-AF58-4692-AF0F-966DE295C3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5605396"/>
                  </p:ext>
                </p:extLst>
              </p:nvPr>
            </p:nvGraphicFramePr>
            <p:xfrm>
              <a:off x="1225485" y="1845734"/>
              <a:ext cx="9473938" cy="10941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73938">
                      <a:extLst>
                        <a:ext uri="{9D8B030D-6E8A-4147-A177-3AD203B41FA5}">
                          <a16:colId xmlns:a16="http://schemas.microsoft.com/office/drawing/2014/main" val="38268761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Theorem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738885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Let</m:t>
                                </m:r>
                                <m:r>
                                  <m:rPr>
                                    <m:nor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ℰ</m:t>
                                </m:r>
                                <m:r>
                                  <m:rPr>
                                    <m:nor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≡</m:t>
                                </m:r>
                                <m:sSub>
                                  <m:sSubPr>
                                    <m:ctrlP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I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𝐸</m:t>
                                            </m:r>
                                          </m:e>
                                          <m:sub>
                                            <m:r>
                                              <a:rPr lang="en-IN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b>
                                    <m: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be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noise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such</m:t>
                                </m:r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that</m:t>
                                </m:r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 ∀ </m:t>
                                </m:r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oMath>
                            </m:oMathPara>
                          </a14:m>
                          <a:endParaRPr lang="en-IN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en-IN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†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∉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𝑍</m:t>
                                </m:r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𝒮</m:t>
                                    </m:r>
                                  </m:e>
                                </m:d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∖</m:t>
                                </m:r>
                                <m:r>
                                  <a:rPr lang="en-I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𝒮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∀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⇒</m:t>
                                </m:r>
                                <m:r>
                                  <m:rPr>
                                    <m:nor/>
                                  </m:rPr>
                                  <a:rPr lang="en-IN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ℰ</m:t>
                                </m:r>
                                <m:r>
                                  <m:rPr>
                                    <m:nor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is</m:t>
                                </m:r>
                                <m:r>
                                  <m:rPr>
                                    <m:nor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correctable</m:t>
                                </m:r>
                                <m:r>
                                  <m:rPr>
                                    <m:nor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</m:oMath>
                            </m:oMathPara>
                          </a14:m>
                          <a:endParaRPr lang="en-IN" b="0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768406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E394EF03-AF58-4692-AF0F-966DE295C3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5605396"/>
                  </p:ext>
                </p:extLst>
              </p:nvPr>
            </p:nvGraphicFramePr>
            <p:xfrm>
              <a:off x="1225485" y="1845734"/>
              <a:ext cx="9473938" cy="10941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73938">
                      <a:extLst>
                        <a:ext uri="{9D8B030D-6E8A-4147-A177-3AD203B41FA5}">
                          <a16:colId xmlns:a16="http://schemas.microsoft.com/office/drawing/2014/main" val="38268761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Theorem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73888562"/>
                      </a:ext>
                    </a:extLst>
                  </a:tr>
                  <a:tr h="7233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29" t="-55833" r="-129" b="-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684064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44636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82F63-F106-4851-8AA2-C123BAA30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1251" y="3136738"/>
            <a:ext cx="10984373" cy="127600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APPENDIX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986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C7F7A-3DE2-4DD3-817A-49A6671F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Hamming Bound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4231DA-F3A8-4885-8C2A-310A90677A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IN" b="1" i="0" smtClean="0">
                        <a:latin typeface="Cambria Math" panose="02040503050406030204" pitchFamily="18" charset="0"/>
                      </a:rPr>
                      <m:t>𝐃𝐞𝐠𝐞𝐧𝐞𝐫𝐚𝐭𝐞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𝐂𝐨𝐝𝐞</m:t>
                    </m:r>
                  </m:oMath>
                </a14:m>
                <a:endParaRPr lang="en-IN" b="1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Suppose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∃ 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such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that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b="0" i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Such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code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called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degenerate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code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b="0" dirty="0"/>
              </a:p>
              <a:p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b="1" i="0" smtClean="0">
                        <a:latin typeface="Cambria Math" panose="02040503050406030204" pitchFamily="18" charset="0"/>
                      </a:rPr>
                      <m:t>𝐐𝐮𝐚𝐧𝐭𝐮𝐦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𝐇𝐚𝐦𝐦𝐢𝐧𝐠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𝐁𝐨𝐮𝐧𝐝</m:t>
                    </m:r>
                  </m:oMath>
                </a14:m>
                <a:endParaRPr lang="en-IN" b="1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we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want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to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encode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qubits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into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qubits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such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that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it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can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correct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upto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Pauli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errors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using</m:t>
                    </m:r>
                  </m:oMath>
                </a14:m>
                <a:endParaRPr lang="en-IN" b="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non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degenerate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code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.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Then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d>
                            <m:dPr>
                              <m:ctrlP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eqArr>
                            </m:e>
                          </m:d>
                          <m:sSup>
                            <m:sSupPr>
                              <m:ctrlP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N" b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4231DA-F3A8-4885-8C2A-310A90677A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15" t="-1970" r="-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65249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C7F7A-3DE2-4DD3-817A-49A6671F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Hamming Bound (Proof)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4231DA-F3A8-4885-8C2A-310A90677A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737360"/>
                <a:ext cx="10058400" cy="4551680"/>
              </a:xfrm>
            </p:spPr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First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we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count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total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possible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no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.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errors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IN" b="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Out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qubits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error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can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occour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any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qubits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eqArr>
                      </m:e>
                    </m:d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possibilities</m:t>
                    </m:r>
                  </m:oMath>
                </a14:m>
                <a:endParaRPr lang="en-IN" b="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each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position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one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or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can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occour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eqArr>
                      </m:e>
                    </m:d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possibilities</m:t>
                    </m:r>
                  </m:oMath>
                </a14:m>
                <a:endParaRPr lang="en-IN" dirty="0"/>
              </a:p>
              <a:p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Total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no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errors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IN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d>
                            <m:d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eqArr>
                            </m:e>
                          </m:d>
                          <m:sSup>
                            <m:sSup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Each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error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reversibly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maps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our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codespace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dim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b="0" i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p>
                        </m:sSup>
                      </m:e>
                    </m:d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onto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unique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disjoint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orthogonal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subspace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b="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Dimension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each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subspace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p>
                    </m:sSup>
                  </m:oMath>
                </a14:m>
                <a:endParaRPr lang="en-IN" b="0" dirty="0"/>
              </a:p>
              <a:p>
                <a:endParaRPr lang="en-IN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Dimension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their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direct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sum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IN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d>
                            <m:d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eqArr>
                            </m:e>
                          </m:d>
                          <m:sSup>
                            <m:sSup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  <m:r>
                        <a:rPr lang="en-IN" i="1" dirty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Dimension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state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space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4231DA-F3A8-4885-8C2A-310A90677A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737360"/>
                <a:ext cx="10058400" cy="4551680"/>
              </a:xfrm>
              <a:blipFill>
                <a:blip r:embed="rId2"/>
                <a:stretch>
                  <a:fillRect l="-1273" t="-10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3137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63BB4-3956-49ED-A702-F856A2B5A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Calderbank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7D0FBD-41CD-420D-88FB-385D19FF2E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977814"/>
                <a:ext cx="10058400" cy="402336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Let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be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two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classical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binary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linear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codes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respectively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such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that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IN" b="0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dirty="0" smtClean="0">
                        <a:latin typeface="Cambria Math" panose="02040503050406030204" pitchFamily="18" charset="0"/>
                      </a:rPr>
                      <m:t>⊂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dirty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IN" b="0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⊥</m:t>
                        </m:r>
                      </m:sup>
                    </m:sSubSup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are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error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correcting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codes</m:t>
                    </m:r>
                  </m:oMath>
                </a14:m>
                <a:endParaRPr lang="en-IN" b="0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𝐶𝑆𝑆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quantum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code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defined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as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IN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𝐶𝑆𝑆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𝑠𝑝𝑎𝑛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12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where</m:t>
                      </m:r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7D0FBD-41CD-420D-88FB-385D19FF2E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977814"/>
                <a:ext cx="10058400" cy="4023360"/>
              </a:xfrm>
              <a:blipFill>
                <a:blip r:embed="rId2"/>
                <a:stretch>
                  <a:fillRect l="-1515" t="-18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9585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5C262-48AE-4107-88DE-321F7B2E7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Calderbank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Code: Error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AA66FC-F541-4B1B-AE80-0D87A2D0A3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784774"/>
                <a:ext cx="10190480" cy="4605866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𝐒𝐞𝐧𝐭</m:t>
                      </m:r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𝐰𝐨𝐫𝐝</m:t>
                      </m:r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𝐄𝐫𝐫𝐨𝐫</m:t>
                      </m:r>
                    </m:oMath>
                  </m:oMathPara>
                </a14:m>
                <a:endParaRPr lang="en-IN" b="1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During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transmission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suppuse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that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bit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flips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phase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flips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occour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. 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If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both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bit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flip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and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phase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flip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occour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it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is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error</m:t>
                          </m:r>
                        </m:e>
                      </m:d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Define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binary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vectors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length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b="0" i="1" dirty="0"/>
              </a:p>
              <a:p>
                <a:pPr marL="0" indent="0">
                  <a:buNone/>
                </a:pPr>
                <a:endParaRPr lang="en-IN" sz="600" b="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bit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flip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at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p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𝑡h</m:t>
                                    </m:r>
                                  </m:sup>
                                </m:s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position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       ;          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phase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>
                                    <a:latin typeface="Cambria Math" panose="02040503050406030204" pitchFamily="18" charset="0"/>
                                  </a:rPr>
                                  <m:t>flip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>
                                    <a:latin typeface="Cambria Math" panose="02040503050406030204" pitchFamily="18" charset="0"/>
                                  </a:rPr>
                                  <m:t>at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p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𝑡h</m:t>
                                    </m:r>
                                  </m:sup>
                                </m:sSup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>
                                    <a:latin typeface="Cambria Math" panose="02040503050406030204" pitchFamily="18" charset="0"/>
                                  </a:rPr>
                                  <m:t>position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IN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i="1" dirty="0"/>
              </a:p>
              <a:p>
                <a:pPr marL="0" indent="0">
                  <a:buNone/>
                </a:pPr>
                <a:endParaRPr lang="en-IN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𝐑𝐞𝐜𝐢𝐞𝐯𝐞𝐝</m:t>
                      </m:r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𝐰𝐨𝐫𝐝</m:t>
                      </m:r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I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)∙</m:t>
                                  </m:r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p>
                              </m:sSup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IN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AA66FC-F541-4B1B-AE80-0D87A2D0A3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784774"/>
                <a:ext cx="10190480" cy="4605866"/>
              </a:xfrm>
              <a:blipFill>
                <a:blip r:embed="rId2"/>
                <a:stretch>
                  <a:fillRect l="-10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48843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402C5-B64B-446C-BF92-1B36A1143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Code: Bit Flip Correction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B32AF3-FCBE-4926-830E-C3DCF54EB5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754294"/>
                <a:ext cx="10058400" cy="4646506"/>
              </a:xfrm>
            </p:spPr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Let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be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syndrome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function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Define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:</m:t>
                      </m:r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dirty="0"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dirty="0"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b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→</m:t>
                      </m:r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dirty="0"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dirty="0"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Add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qubits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apply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quantum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gate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version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I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)∙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p>
                              </m:sSup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nary>
                        </m:e>
                      </m:nary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+0</m:t>
                          </m:r>
                        </m:e>
                      </m:d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                    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I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)∙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p>
                              </m:sSup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nary>
                        </m:e>
                      </m:nary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So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we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can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read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subsequently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find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using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syndrome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decoding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table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endParaRPr lang="en-IN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Upon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correcting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bit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flip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we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get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I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)∙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p>
                              </m:sSup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B32AF3-FCBE-4926-830E-C3DCF54EB5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754294"/>
                <a:ext cx="10058400" cy="4646506"/>
              </a:xfrm>
              <a:blipFill>
                <a:blip r:embed="rId2"/>
                <a:stretch>
                  <a:fillRect l="-1455" t="-15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18905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9CBB7-8BF8-4E10-9D66-8BCEB468E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Code: Phase Flip Correction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024B8D-3612-4A03-84F8-3CF73490A0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4422986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Applying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to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⟩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we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get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I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)∙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p>
                              </m:sSup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⊗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I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)∙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p>
                              </m:sSup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I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9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bSup>
                                    <m:sSubSup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dirty="0">
                                          <a:latin typeface="Cambria Math" panose="02040503050406030204" pitchFamily="18" charset="0"/>
                                        </a:rPr>
                                        <m:t>ℤ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bSup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)∙</m:t>
                                      </m:r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                       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I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9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bSup>
                                    <m:sSubSup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dirty="0">
                                          <a:latin typeface="Cambria Math" panose="02040503050406030204" pitchFamily="18" charset="0"/>
                                        </a:rPr>
                                        <m:t>ℤ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bSup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)∙(</m:t>
                                      </m:r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I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⟩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                          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IN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Sup>
                                <m:sSub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dirty="0">
                                      <a:latin typeface="Cambria Math" panose="02040503050406030204" pitchFamily="18" charset="0"/>
                                    </a:rPr>
                                    <m:t>ℤ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n-I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subSup"/>
                                      <m:supHide m:val="on"/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9"/>
                                        </m:r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IN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I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∙</m:t>
                                          </m:r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sup>
                                      </m:sSup>
                                    </m:e>
                                  </m:nary>
                                </m:e>
                              </m:d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sSubSup>
                                  <m:sSubSup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⊥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otherw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024B8D-3612-4A03-84F8-3CF73490A0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4422986"/>
              </a:xfrm>
              <a:blipFill>
                <a:blip r:embed="rId2"/>
                <a:stretch>
                  <a:fillRect l="-1515" t="-11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90389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E55C1-3909-4856-A7FD-CF0E0D6A5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Code: Phase Flip Correction (cont.)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0B3BD5-2AE9-47B8-8BC1-589A6D2F6A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IN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Sup>
                                <m:sSubSupPr>
                                  <m:ctrlPr>
                                    <a:rPr lang="en-I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⊥</m:t>
                                  </m:r>
                                </m:sup>
                              </m:sSubSup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We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converted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phase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flip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error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bit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flip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error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On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correcting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it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we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get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IN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Sup>
                                <m:sSub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⊥</m:t>
                                  </m:r>
                                </m:sup>
                              </m:sSubSup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Applying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we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get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nary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0B3BD5-2AE9-47B8-8BC1-589A6D2F6A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31847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E5E3A-E2C7-4B18-BDD0-390638B97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Fidelity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8E330A-AEA2-4DD9-84B4-EBF5D78F9D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4341706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Fidelity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measure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how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close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two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density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operators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are</m:t>
                      </m:r>
                    </m:oMath>
                  </m:oMathPara>
                </a14:m>
                <a:endParaRPr lang="en-IN" b="1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800" b="1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𝐂𝐥𝐚𝐬𝐬𝐢𝐜𝐚𝐥</m:t>
                      </m:r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𝐅𝐢𝐝𝐞𝐥𝐢𝐭𝐲</m:t>
                      </m:r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Let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and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be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two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distributions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ad>
                            <m:radPr>
                              <m:degHide m:val="on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rad>
                        </m:e>
                      </m:nary>
                    </m:oMath>
                  </m:oMathPara>
                </a14:m>
                <a:endParaRPr lang="en-IN" b="1" dirty="0"/>
              </a:p>
              <a:p>
                <a:pPr marL="0" indent="0">
                  <a:buNone/>
                </a:pPr>
                <a:endParaRPr lang="en-IN" sz="11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𝐐𝐮𝐚𝐧𝐭𝐮𝐦</m:t>
                      </m:r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𝐅𝐢𝐝𝐞𝐥𝐢𝐭𝐲</m:t>
                      </m:r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Let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be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two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density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operators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𝑡𝑟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1/2</m:t>
                                  </m:r>
                                </m:sup>
                              </m:s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1/2</m:t>
                                  </m:r>
                                </m:sup>
                              </m:sSup>
                            </m:e>
                          </m:rad>
                        </m:e>
                      </m:d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⟩⟨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⟩⟨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some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orthogonal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basis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𝑡𝑟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1/2</m:t>
                                  </m:r>
                                </m:sup>
                              </m:s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1/2</m:t>
                                  </m:r>
                                </m:sup>
                              </m:sSup>
                            </m:e>
                          </m:rad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𝑡𝑟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1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⟩⟨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</m:nary>
                            </m:e>
                          </m:rad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𝑡𝑟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1"/>
                                </m:rP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ad>
                                <m:radPr>
                                  <m:degHide m:val="on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rad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⟩⟨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nary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ad>
                            <m:radPr>
                              <m:deg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rad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Fidelity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between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pure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state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d>
                        <m:dPr>
                          <m:begChr m:val="⟨"/>
                          <m:endChr m:val="|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  <m:d>
                            <m:dPr>
                              <m:begChr m:val="⟨"/>
                              <m:endChr m:val="|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 ,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𝑡𝑟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d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⟩⟨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rad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8E330A-AEA2-4DD9-84B4-EBF5D78F9D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4341706"/>
              </a:xfrm>
              <a:blipFill>
                <a:blip r:embed="rId2"/>
                <a:stretch>
                  <a:fillRect l="-1818" t="-75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34987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8BD18-83C9-45C2-B767-C61922C6E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Fidelity Example: 3 Qubit Flip Code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EE634F-1070-4BDB-B895-A389A14A01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393680" cy="4023360"/>
              </a:xfrm>
            </p:spPr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IN" b="1" i="0" smtClean="0">
                        <a:latin typeface="Cambria Math" panose="02040503050406030204" pitchFamily="18" charset="0"/>
                      </a:rPr>
                      <m:t>𝐖𝐢𝐭𝐡𝐨𝐮𝐭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𝐂𝐨𝐝𝐞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                                          </m:t>
                    </m:r>
                    <m:d>
                      <m:dPr>
                        <m:begChr m:val="|"/>
                        <m:endChr m:val="⟩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|"/>
                        <m:endChr m:val="⟩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begChr m:val="|"/>
                        <m:endChr m:val="⟩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IN" b="0" dirty="0"/>
              </a:p>
              <a:p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Sent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d>
                        <m:dPr>
                          <m:begChr m:val="⟨"/>
                          <m:endChr m:val="|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    ;     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Recieved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𝑝𝑋</m:t>
                      </m:r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d>
                        <m:dPr>
                          <m:begChr m:val="⟨"/>
                          <m:endChr m:val="|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d>
                        <m:dPr>
                          <m:begChr m:val="⟨"/>
                          <m:endChr m:val="|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Fidelity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  <m:d>
                            <m:dPr>
                              <m:begChr m:val="⟨"/>
                              <m:endChr m:val="|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 ,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</m:e>
                      </m:ra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  <m:d>
                            <m:dPr>
                              <m:begChr m:val="⟨"/>
                              <m:endChr m:val="⟩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</m:e>
                      </m:ra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≥</m:t>
                      </m:r>
                      <m:rad>
                        <m:radPr>
                          <m:deg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ra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b="1" i="0" smtClean="0">
                        <a:latin typeface="Cambria Math" panose="02040503050406030204" pitchFamily="18" charset="0"/>
                      </a:rPr>
                      <m:t>𝐖𝐢𝐭𝐡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𝐂𝐨𝐝𝐞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                                          </m:t>
                    </m:r>
                    <m:d>
                      <m:dPr>
                        <m:begChr m:val="|"/>
                        <m:endChr m:val="⟩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|"/>
                        <m:endChr m:val="⟩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000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begChr m:val="|"/>
                        <m:endChr m:val="⟩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111</m:t>
                        </m:r>
                      </m:e>
                    </m:d>
                  </m:oMath>
                </a14:m>
                <a:endParaRPr lang="en-IN" b="0" dirty="0"/>
              </a:p>
              <a:p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Sent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d>
                        <m:dPr>
                          <m:begChr m:val="⟨"/>
                          <m:endChr m:val="|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    ;     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Recieved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d>
                        <m:dPr>
                          <m:begChr m:val="⟨"/>
                          <m:endChr m:val="|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Fidelity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  <m:d>
                            <m:dPr>
                              <m:begChr m:val="⟨"/>
                              <m:endChr m:val="|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 ,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</m:e>
                      </m:ra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≥</m:t>
                      </m:r>
                      <m:rad>
                        <m:radPr>
                          <m:deg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+3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𝑝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EE634F-1070-4BDB-B895-A389A14A01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393680" cy="4023360"/>
              </a:xfrm>
              <a:blipFill>
                <a:blip r:embed="rId2"/>
                <a:stretch>
                  <a:fillRect l="-1408" t="-18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200031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8693</TotalTime>
  <Words>2658</Words>
  <Application>Microsoft Office PowerPoint</Application>
  <PresentationFormat>Widescreen</PresentationFormat>
  <Paragraphs>2140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Lato</vt:lpstr>
      <vt:lpstr>Times New Roman</vt:lpstr>
      <vt:lpstr>Retrospect</vt:lpstr>
      <vt:lpstr>Quantum Error Correction</vt:lpstr>
      <vt:lpstr>Linear Algebra Notations</vt:lpstr>
      <vt:lpstr>Recap: Qubit</vt:lpstr>
      <vt:lpstr>Recap: Quantum Gate</vt:lpstr>
      <vt:lpstr>Recap: Measurement</vt:lpstr>
      <vt:lpstr>Recap: Density Operator</vt:lpstr>
      <vt:lpstr>Recap: Density Operator (Theorem)</vt:lpstr>
      <vt:lpstr>Recap: Density Operator (Theorem) (cont.)</vt:lpstr>
      <vt:lpstr>Recap: Postulates</vt:lpstr>
      <vt:lpstr>Reduced Density Operator</vt:lpstr>
      <vt:lpstr>Quantum Operation</vt:lpstr>
      <vt:lpstr>Quantum Operation (Theorem 1)</vt:lpstr>
      <vt:lpstr>Quantum Operation (Theorem 2)</vt:lpstr>
      <vt:lpstr>Theory Of Error Correction</vt:lpstr>
      <vt:lpstr>Existence of Error Correction</vt:lpstr>
      <vt:lpstr>Existence of Error Correction  (cont.)</vt:lpstr>
      <vt:lpstr>Discretization Of Errors</vt:lpstr>
      <vt:lpstr>Discretization Of Errors (cont.)</vt:lpstr>
      <vt:lpstr>Pauli Matrices</vt:lpstr>
      <vt:lpstr>Stabilizer Codes</vt:lpstr>
      <vt:lpstr>Stabilizer Codes (cont.)</vt:lpstr>
      <vt:lpstr>APPENDIX</vt:lpstr>
      <vt:lpstr>Quantum Hamming Bound</vt:lpstr>
      <vt:lpstr>Quantum Hamming Bound (Proof)</vt:lpstr>
      <vt:lpstr>Calderbank Shor Stean Code</vt:lpstr>
      <vt:lpstr>Calderbank Shor Stean Code: Error</vt:lpstr>
      <vt:lpstr>CSS Code: Bit Flip Correction</vt:lpstr>
      <vt:lpstr>CSS Code: Phase Flip Correction</vt:lpstr>
      <vt:lpstr>CSS Code: Phase Flip Correction (cont.)</vt:lpstr>
      <vt:lpstr>Fidelity</vt:lpstr>
      <vt:lpstr>Fidelity Example: 3 Qubit Flip 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Error Correction</dc:title>
  <dc:creator>Akshay Reddy Vellapalem</dc:creator>
  <cp:lastModifiedBy>Akshay Reddy</cp:lastModifiedBy>
  <cp:revision>60</cp:revision>
  <dcterms:created xsi:type="dcterms:W3CDTF">2024-02-26T09:47:59Z</dcterms:created>
  <dcterms:modified xsi:type="dcterms:W3CDTF">2025-11-16T08:47:48Z</dcterms:modified>
</cp:coreProperties>
</file>